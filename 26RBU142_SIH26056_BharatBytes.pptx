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drive.google.com/drive/folders/1umIfrbjnLhSdqTqecGn315W5UIARY4um" TargetMode="External"/><Relationship Id="rId6" Type="http://schemas.openxmlformats.org/officeDocument/2006/relationships/hyperlink" Target="https://vimaan-console.vercel.app" TargetMode="External"/><Relationship Id="rId7" Type="http://schemas.openxmlformats.org/officeDocument/2006/relationships/hyperlink" Target="https://github.com/hersheysss3/vimaan-airfare-index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drive.google.com/drive/folders/1umIfrbjnLhSdqTqecGn315W5UIARY4um" TargetMode="External"/><Relationship Id="rId5" Type="http://schemas.openxmlformats.org/officeDocument/2006/relationships/hyperlink" Target="https://vimaan-console.vercel.ap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  <a:effectLst/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  <a:effectLst/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9184" y="1115568"/>
            <a:ext cx="5577840" cy="21031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1F2B"/>
                </a:solidFill>
                <a:latin typeface="Arial"/>
              </a:rPr>
              <a:t>•  Problem Statement ID – </a:t>
            </a:r>
            <a:r>
              <a:rPr sz="1350" b="1" i="0">
                <a:solidFill>
                  <a:srgbClr val="1F497D"/>
                </a:solidFill>
                <a:latin typeface="Arial"/>
              </a:rPr>
              <a:t>SIH26056</a:t>
            </a:r>
            <a:endParaRPr lang="en-US" dirty="0"/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1F2B"/>
                </a:solidFill>
                <a:latin typeface="Arial"/>
              </a:rPr>
              <a:t>•  Problem Statement Title – </a:t>
            </a:r>
            <a:r>
              <a:rPr sz="1350" b="0" i="0">
                <a:solidFill>
                  <a:srgbClr val="1F497D"/>
                </a:solidFill>
                <a:latin typeface="Arial"/>
              </a:rPr>
              <a:t>Development of a Real-time Airfare Price Index for India through Automated Web Scraping of Airline and Online Travel Aggregator Portals for Augmentation of the Consumer Price Index (CPI)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1F2B"/>
                </a:solidFill>
                <a:latin typeface="Arial"/>
              </a:rPr>
              <a:t>•  Theme – </a:t>
            </a:r>
            <a:r>
              <a:rPr sz="1350" b="0" i="0">
                <a:solidFill>
                  <a:srgbClr val="1F497D"/>
                </a:solidFill>
                <a:latin typeface="Arial"/>
              </a:rPr>
              <a:t>Travel &amp; Tourism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1F2B"/>
                </a:solidFill>
                <a:latin typeface="Arial"/>
              </a:rPr>
              <a:t>•  PS Category – </a:t>
            </a:r>
            <a:r>
              <a:rPr sz="1350" b="0" i="0">
                <a:solidFill>
                  <a:srgbClr val="1F497D"/>
                </a:solidFill>
                <a:latin typeface="Arial"/>
              </a:rPr>
              <a:t>Software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1F2B"/>
                </a:solidFill>
                <a:latin typeface="Arial"/>
              </a:rPr>
              <a:t>•  Team Name – </a:t>
            </a:r>
            <a:r>
              <a:rPr sz="1350" b="1" i="0">
                <a:solidFill>
                  <a:srgbClr val="B86B00"/>
                </a:solidFill>
                <a:latin typeface="Arial"/>
              </a:rPr>
              <a:t>Bharat Bytes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  <a:effectLst/>
        </p:spPr>
      </p:pic>
      <p:sp>
        <p:nvSpPr>
          <p:cNvPr id="38" name="Rounded Rectangle 37"/>
          <p:cNvSpPr/>
          <p:nvPr/>
        </p:nvSpPr>
        <p:spPr>
          <a:xfrm>
            <a:off x="329184" y="3310128"/>
            <a:ext cx="5577840" cy="987552"/>
          </a:xfrm>
          <a:prstGeom prst="roundRect">
            <a:avLst>
              <a:gd name="adj" fmla="val 6000"/>
            </a:avLst>
          </a:prstGeom>
          <a:solidFill>
            <a:srgbClr val="1F497D"/>
          </a:solidFill>
          <a:ln w="952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VIMAAN</a:t>
            </a:r>
            <a:r>
              <a:rPr sz="1050" b="0" i="0">
                <a:solidFill>
                  <a:srgbClr val="C8D6E8"/>
                </a:solidFill>
                <a:latin typeface="Arial"/>
              </a:rPr>
              <a:t>   Validated Index of Market Airfares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8D6E8"/>
                </a:solidFill>
                <a:latin typeface="Arial"/>
              </a:rPr>
              <a:t>for Augmenting National-statistics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1">
                <a:solidFill>
                  <a:srgbClr val="F3C67A"/>
                </a:solidFill>
                <a:latin typeface="Arial"/>
              </a:rPr>
              <a:t>Skyscanner tells you what a ticket costs. VIMAAN tells the RBI whether to raise rates.</a:t>
            </a:r>
          </a:p>
        </p:txBody>
      </p:sp>
      <p:pic>
        <p:nvPicPr>
          <p:cNvPr id="39" name="Picture 38" descr="n_hero_inde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" y="4370832"/>
            <a:ext cx="3968496" cy="1347155"/>
          </a:xfrm>
          <a:prstGeom prst="rect">
            <a:avLst/>
          </a:prstGeom>
          <a:effectLst/>
        </p:spPr>
      </p:pic>
      <p:sp>
        <p:nvSpPr>
          <p:cNvPr id="40" name="TextBox 39"/>
          <p:cNvSpPr txBox="1"/>
          <p:nvPr/>
        </p:nvSpPr>
        <p:spPr>
          <a:xfrm>
            <a:off x="329184" y="5754563"/>
            <a:ext cx="3968496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 i="0">
                <a:solidFill>
                  <a:srgbClr val="1F497D"/>
                </a:solidFill>
                <a:latin typeface="Arial"/>
              </a:rPr>
              <a:t>Source:  </a:t>
            </a:r>
            <a:r>
              <a:rPr sz="680" b="0" i="0">
                <a:solidFill>
                  <a:srgbClr val="8A93A2"/>
                </a:solidFill>
                <a:latin typeface="Arial"/>
              </a:rPr>
              <a:t>Modelled on the VIMAAN sampling design. Base 2024 = 100, as in CPI 2024.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25696" y="4498848"/>
            <a:ext cx="151790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B86B00"/>
                </a:solidFill>
                <a:latin typeface="Arial"/>
              </a:rPr>
              <a:t>517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25696" y="4718304"/>
            <a:ext cx="151790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50" b="1" i="0">
                <a:solidFill>
                  <a:srgbClr val="8A93A2"/>
                </a:solidFill>
                <a:latin typeface="Arial"/>
              </a:rPr>
              <a:t>ROUTES, 3× A DAY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25696" y="4974336"/>
            <a:ext cx="151790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B86B00"/>
                </a:solidFill>
                <a:latin typeface="Arial"/>
              </a:rPr>
              <a:t>78 → 517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25696" y="5193792"/>
            <a:ext cx="151790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50" b="1" i="0">
                <a:solidFill>
                  <a:srgbClr val="8A93A2"/>
                </a:solidFill>
                <a:latin typeface="Arial"/>
              </a:rPr>
              <a:t>VS DGCA TODAY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25696" y="5449824"/>
            <a:ext cx="151790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B86B00"/>
                </a:solidFill>
                <a:latin typeface="Arial"/>
              </a:rPr>
              <a:t>SDMX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25696" y="5669280"/>
            <a:ext cx="151790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50" b="1" i="0">
                <a:solidFill>
                  <a:srgbClr val="8A93A2"/>
                </a:solidFill>
                <a:latin typeface="Arial"/>
              </a:rPr>
              <a:t>FEED INTO CPI 2024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9184" y="6089904"/>
            <a:ext cx="5577840" cy="2032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9184" y="6153912"/>
            <a:ext cx="557784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1" i="0">
                <a:solidFill>
                  <a:srgbClr val="B86B00"/>
                </a:solidFill>
                <a:latin typeface="Arial"/>
              </a:rPr>
              <a:t>WALKTHROUGH  </a:t>
            </a:r>
            <a:r>
              <a:rPr sz="900" b="1" i="0">
                <a:solidFill>
                  <a:srgbClr val="1F497D"/>
                </a:solidFill>
                <a:latin typeface="Arial"/>
                <a:hlinkClick r:id="rId5"/>
              </a:rPr>
              <a:t>Prototype video and screens on Google Drive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9184" y="6419088"/>
            <a:ext cx="557784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 i="0">
                <a:solidFill>
                  <a:srgbClr val="B86B00"/>
                </a:solidFill>
                <a:latin typeface="Arial"/>
              </a:rPr>
              <a:t>LIVE  </a:t>
            </a:r>
            <a:r>
              <a:rPr sz="800" b="0" i="0">
                <a:solidFill>
                  <a:srgbClr val="1F497D"/>
                </a:solidFill>
                <a:latin typeface="Arial"/>
                <a:hlinkClick r:id="rId6"/>
              </a:rPr>
              <a:t>vimaan-console.vercel.app</a:t>
            </a:r>
            <a:r>
              <a:rPr sz="720" b="1" i="0">
                <a:solidFill>
                  <a:srgbClr val="B86B00"/>
                </a:solidFill>
                <a:latin typeface="Arial"/>
              </a:rPr>
              <a:t>        SOURCE  </a:t>
            </a:r>
            <a:r>
              <a:rPr sz="800" b="0" i="0">
                <a:solidFill>
                  <a:srgbClr val="1F497D"/>
                </a:solidFill>
                <a:latin typeface="Arial"/>
                <a:hlinkClick r:id="rId7"/>
              </a:rPr>
              <a:t>github.com/hersheysss3/vimaan-airfare-index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91640" y="36576"/>
            <a:ext cx="7955279" cy="1005840"/>
          </a:xfrm>
          <a:effectLst/>
        </p:spPr>
        <p:txBody>
          <a:bodyPr wrap="square" anchor="ctr"/>
          <a:lstStyle/>
          <a:p>
            <a:pPr eaLnBrk="1" hangingPunct="1" algn="ctr"/>
            <a:r>
              <a:rPr lang="en-US" sz="3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PROPOSED SOLUTION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  <a:effectLst/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effectLst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 b="1"/>
              <a:t>Bharat Bytes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  <a:effectLst/>
        </p:spPr>
      </p:pic>
      <p:sp>
        <p:nvSpPr>
          <p:cNvPr id="15362" name="Rounded Rectangle 15361"/>
          <p:cNvSpPr/>
          <p:nvPr/>
        </p:nvSpPr>
        <p:spPr>
          <a:xfrm>
            <a:off x="320040" y="1097280"/>
            <a:ext cx="11548872" cy="384048"/>
          </a:xfrm>
          <a:prstGeom prst="roundRect">
            <a:avLst>
              <a:gd name="adj" fmla="val 6000"/>
            </a:avLst>
          </a:prstGeom>
          <a:solidFill>
            <a:srgbClr val="1F497D"/>
          </a:solidFill>
          <a:ln w="952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 i="0">
                <a:solidFill>
                  <a:srgbClr val="F3C67A"/>
                </a:solidFill>
                <a:latin typeface="Arial"/>
              </a:rPr>
              <a:t>VIMAAN   </a:t>
            </a:r>
            <a:r>
              <a:rPr sz="950" b="1" i="0">
                <a:solidFill>
                  <a:srgbClr val="FFFFFF"/>
                </a:solidFill>
                <a:latin typeface="Arial"/>
              </a:rPr>
              <a:t>Validated Index of Market Airfares for Augmenting National-statistics.   </a:t>
            </a:r>
            <a:r>
              <a:rPr sz="950" b="0" i="0">
                <a:solidFill>
                  <a:srgbClr val="C8D6E8"/>
                </a:solidFill>
                <a:latin typeface="Arial"/>
              </a:rPr>
              <a:t>An automated replacement for the manual airfare price collection that currently supplies the CPI transport group.</a:t>
            </a:r>
          </a:p>
        </p:txBody>
      </p:sp>
      <p:sp>
        <p:nvSpPr>
          <p:cNvPr id="15363" name="Rectangle 15362"/>
          <p:cNvSpPr/>
          <p:nvPr/>
        </p:nvSpPr>
        <p:spPr>
          <a:xfrm>
            <a:off x="320040" y="1536192"/>
            <a:ext cx="5577840" cy="2032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4" name="TextBox 15363"/>
          <p:cNvSpPr txBox="1"/>
          <p:nvPr/>
        </p:nvSpPr>
        <p:spPr>
          <a:xfrm>
            <a:off x="320040" y="1586484"/>
            <a:ext cx="55778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EXHIBIT 2</a:t>
            </a:r>
            <a:r>
              <a:rPr sz="800" b="1" i="0">
                <a:solidFill>
                  <a:srgbClr val="1F497D"/>
                </a:solidFill>
                <a:latin typeface="Arial"/>
              </a:rPr>
              <a:t>     DETAILED EXPLANATION OF THE PROPOSED SOLUTION</a:t>
            </a:r>
          </a:p>
        </p:txBody>
      </p:sp>
      <p:sp>
        <p:nvSpPr>
          <p:cNvPr id="15365" name="Rectangle 15364"/>
          <p:cNvSpPr/>
          <p:nvPr/>
        </p:nvSpPr>
        <p:spPr>
          <a:xfrm>
            <a:off x="6062471" y="1536192"/>
            <a:ext cx="5577840" cy="2032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6" name="TextBox 15365"/>
          <p:cNvSpPr txBox="1"/>
          <p:nvPr/>
        </p:nvSpPr>
        <p:spPr>
          <a:xfrm>
            <a:off x="6062471" y="1586484"/>
            <a:ext cx="55778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EXHIBIT 3</a:t>
            </a:r>
            <a:r>
              <a:rPr sz="800" b="1" i="0">
                <a:solidFill>
                  <a:srgbClr val="1F497D"/>
                </a:solidFill>
                <a:latin typeface="Arial"/>
              </a:rPr>
              <a:t>     HOW IT ADDRESSES THE PROBLEM</a:t>
            </a:r>
          </a:p>
        </p:txBody>
      </p:sp>
      <p:pic>
        <p:nvPicPr>
          <p:cNvPr id="15367" name="Picture 15366" descr="n_tod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792224"/>
            <a:ext cx="5577840" cy="3219633"/>
          </a:xfrm>
          <a:prstGeom prst="rect">
            <a:avLst/>
          </a:prstGeom>
          <a:effectLst/>
        </p:spPr>
      </p:pic>
      <p:pic>
        <p:nvPicPr>
          <p:cNvPr id="15368" name="Picture 15367" descr="n_surfa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2471" y="1792224"/>
            <a:ext cx="5577840" cy="3511205"/>
          </a:xfrm>
          <a:prstGeom prst="rect">
            <a:avLst/>
          </a:prstGeom>
          <a:effectLst/>
        </p:spPr>
      </p:pic>
      <p:sp>
        <p:nvSpPr>
          <p:cNvPr id="15369" name="TextBox 15368"/>
          <p:cNvSpPr txBox="1"/>
          <p:nvPr/>
        </p:nvSpPr>
        <p:spPr>
          <a:xfrm>
            <a:off x="320040" y="5030145"/>
            <a:ext cx="55778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 i="0">
                <a:solidFill>
                  <a:srgbClr val="1F497D"/>
                </a:solidFill>
                <a:latin typeface="Arial"/>
              </a:rPr>
              <a:t>Source:  </a:t>
            </a:r>
            <a:r>
              <a:rPr sz="680" b="0" i="0">
                <a:solidFill>
                  <a:srgbClr val="8A93A2"/>
                </a:solidFill>
                <a:latin typeface="Arial"/>
              </a:rPr>
              <a:t>Route count from DGCA Monthly Domestic Traffic Statistics. Present coverage per PIB PRID 1810467.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6062471" y="5321717"/>
            <a:ext cx="55778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 i="0">
                <a:solidFill>
                  <a:srgbClr val="1F497D"/>
                </a:solidFill>
                <a:latin typeface="Arial"/>
              </a:rPr>
              <a:t>Source:  </a:t>
            </a:r>
            <a:r>
              <a:rPr sz="680" b="0" i="0">
                <a:solidFill>
                  <a:srgbClr val="8A93A2"/>
                </a:solidFill>
                <a:latin typeface="Arial"/>
              </a:rPr>
              <a:t>Fare grid modelled on the VIMAAN sampling design, Delhi–Mumbai, September 2026 departures.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320040" y="5358384"/>
            <a:ext cx="57607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F497D"/>
                </a:solidFill>
                <a:latin typeface="Arial"/>
              </a:rPr>
              <a:t>INNOVATION AND UNIQUENESS OF THE SOLUTION</a:t>
            </a:r>
          </a:p>
        </p:txBody>
      </p:sp>
      <p:sp>
        <p:nvSpPr>
          <p:cNvPr id="15372" name="Rectangle 15371"/>
          <p:cNvSpPr/>
          <p:nvPr/>
        </p:nvSpPr>
        <p:spPr>
          <a:xfrm>
            <a:off x="320040" y="5559552"/>
            <a:ext cx="11548872" cy="2032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3" name="TextBox 15372"/>
          <p:cNvSpPr txBox="1"/>
          <p:nvPr/>
        </p:nvSpPr>
        <p:spPr>
          <a:xfrm>
            <a:off x="320040" y="5609844"/>
            <a:ext cx="275005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01   </a:t>
            </a:r>
            <a:r>
              <a:rPr sz="860" b="1" i="0">
                <a:solidFill>
                  <a:srgbClr val="1F497D"/>
                </a:solidFill>
                <a:latin typeface="Arial"/>
              </a:rPr>
              <a:t>Full price surface sampled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320040" y="5811012"/>
            <a:ext cx="2750058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0">
                <a:solidFill>
                  <a:srgbClr val="555F6E"/>
                </a:solidFill>
                <a:latin typeface="Arial"/>
              </a:rPr>
              <a:t>Eight advance-purchase windows across every departure date in a 60-day horizon, each fare attributed to its month of departure.</a:t>
            </a:r>
          </a:p>
        </p:txBody>
      </p:sp>
      <p:sp>
        <p:nvSpPr>
          <p:cNvPr id="15375" name="Rectangle 15374"/>
          <p:cNvSpPr/>
          <p:nvPr/>
        </p:nvSpPr>
        <p:spPr>
          <a:xfrm>
            <a:off x="3161538" y="5586984"/>
            <a:ext cx="12700" cy="676656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6" name="TextBox 15375"/>
          <p:cNvSpPr txBox="1"/>
          <p:nvPr/>
        </p:nvSpPr>
        <p:spPr>
          <a:xfrm>
            <a:off x="3252978" y="5609844"/>
            <a:ext cx="275005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02   </a:t>
            </a:r>
            <a:r>
              <a:rPr sz="860" b="1" i="0">
                <a:solidFill>
                  <a:srgbClr val="1F497D"/>
                </a:solidFill>
                <a:latin typeface="Arial"/>
              </a:rPr>
              <a:t>Multilateral index estimators</a:t>
            </a:r>
          </a:p>
        </p:txBody>
      </p:sp>
      <p:sp>
        <p:nvSpPr>
          <p:cNvPr id="15377" name="TextBox 15376"/>
          <p:cNvSpPr txBox="1"/>
          <p:nvPr/>
        </p:nvSpPr>
        <p:spPr>
          <a:xfrm>
            <a:off x="3252978" y="5811012"/>
            <a:ext cx="2750058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0">
                <a:solidFill>
                  <a:srgbClr val="555F6E"/>
                </a:solidFill>
                <a:latin typeface="Arial"/>
              </a:rPr>
              <a:t>Jevons elementary aggregates, then GEKS-Jevons on a 25-month rolling window, which removes chain drift.</a:t>
            </a:r>
          </a:p>
        </p:txBody>
      </p:sp>
      <p:sp>
        <p:nvSpPr>
          <p:cNvPr id="15378" name="Rectangle 15377"/>
          <p:cNvSpPr/>
          <p:nvPr/>
        </p:nvSpPr>
        <p:spPr>
          <a:xfrm>
            <a:off x="6094476" y="5586984"/>
            <a:ext cx="12700" cy="676656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9" name="TextBox 15378"/>
          <p:cNvSpPr txBox="1"/>
          <p:nvPr/>
        </p:nvSpPr>
        <p:spPr>
          <a:xfrm>
            <a:off x="6185916" y="5609844"/>
            <a:ext cx="275005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03   </a:t>
            </a:r>
            <a:r>
              <a:rPr sz="860" b="1" i="0">
                <a:solidFill>
                  <a:srgbClr val="1F497D"/>
                </a:solidFill>
                <a:latin typeface="Arial"/>
              </a:rPr>
              <a:t>Statutory collection basis</a:t>
            </a:r>
          </a:p>
        </p:txBody>
      </p:sp>
      <p:sp>
        <p:nvSpPr>
          <p:cNvPr id="15380" name="TextBox 15379"/>
          <p:cNvSpPr txBox="1"/>
          <p:nvPr/>
        </p:nvSpPr>
        <p:spPr>
          <a:xfrm>
            <a:off x="6185916" y="5811012"/>
            <a:ext cx="2750058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0">
                <a:solidFill>
                  <a:srgbClr val="555F6E"/>
                </a:solidFill>
                <a:latin typeface="Arial"/>
              </a:rPr>
              <a:t>Rule 135(2) tariff pages and licensed APIs supply two of three lanes. robots.txt observed; no personal data.</a:t>
            </a:r>
          </a:p>
        </p:txBody>
      </p:sp>
      <p:sp>
        <p:nvSpPr>
          <p:cNvPr id="15381" name="Rectangle 15380"/>
          <p:cNvSpPr/>
          <p:nvPr/>
        </p:nvSpPr>
        <p:spPr>
          <a:xfrm>
            <a:off x="9027414" y="5586984"/>
            <a:ext cx="12700" cy="676656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2" name="TextBox 15381"/>
          <p:cNvSpPr txBox="1"/>
          <p:nvPr/>
        </p:nvSpPr>
        <p:spPr>
          <a:xfrm>
            <a:off x="9118854" y="5609844"/>
            <a:ext cx="275005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04   </a:t>
            </a:r>
            <a:r>
              <a:rPr sz="860" b="1" i="0">
                <a:solidFill>
                  <a:srgbClr val="1F497D"/>
                </a:solidFill>
                <a:latin typeface="Arial"/>
              </a:rPr>
              <a:t>Reproducible output</a:t>
            </a:r>
          </a:p>
        </p:txBody>
      </p:sp>
      <p:sp>
        <p:nvSpPr>
          <p:cNvPr id="15383" name="TextBox 15382"/>
          <p:cNvSpPr txBox="1"/>
          <p:nvPr/>
        </p:nvSpPr>
        <p:spPr>
          <a:xfrm>
            <a:off x="9118854" y="5811012"/>
            <a:ext cx="2750058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0">
                <a:solidFill>
                  <a:srgbClr val="555F6E"/>
                </a:solidFill>
                <a:latin typeface="Arial"/>
              </a:rPr>
              <a:t>Hashed raw snapshots, a methodology endpoint for each value, and SDMX-JSON for direct ingestion by MoSPI.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36576"/>
            <a:ext cx="7955279" cy="1005840"/>
          </a:xfrm>
          <a:effectLst/>
        </p:spPr>
        <p:txBody>
          <a:bodyPr wrap="square" anchor="ctr"/>
          <a:lstStyle/>
          <a:p>
            <a:pPr eaLnBrk="1" hangingPunct="1" algn="ctr"/>
            <a:r>
              <a:rPr lang="en-US" sz="3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  <a:effectLst/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effectLst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 b="1"/>
              <a:t>Bharat Bytes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  <a:effectLst/>
        </p:spPr>
      </p:pic>
      <p:sp>
        <p:nvSpPr>
          <p:cNvPr id="17410" name="TextBox 17409"/>
          <p:cNvSpPr txBox="1"/>
          <p:nvPr/>
        </p:nvSpPr>
        <p:spPr>
          <a:xfrm>
            <a:off x="320040" y="1133856"/>
            <a:ext cx="678484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F497D"/>
                </a:solidFill>
                <a:latin typeface="Arial"/>
              </a:rPr>
              <a:t>METHODOLOGY AND PROCESS FOR IMPLEMENTATION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320040" y="1335024"/>
            <a:ext cx="6784848" cy="2032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402335" y="1399032"/>
            <a:ext cx="1192377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1   </a:t>
            </a:r>
            <a:r>
              <a:rPr sz="880" b="1" i="0">
                <a:solidFill>
                  <a:srgbClr val="1F497D"/>
                </a:solidFill>
                <a:latin typeface="Arial"/>
              </a:rPr>
              <a:t>COLLECT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02335" y="1600200"/>
            <a:ext cx="1192377" cy="365759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0">
                <a:solidFill>
                  <a:srgbClr val="555F6E"/>
                </a:solidFill>
                <a:latin typeface="Arial"/>
              </a:rPr>
              <a:t>statutory tariff pages, licensed APIs, public portals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1677009" y="1353312"/>
            <a:ext cx="12700" cy="64008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1759305" y="1399032"/>
            <a:ext cx="1192377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2   </a:t>
            </a:r>
            <a:r>
              <a:rPr sz="880" b="1" i="0">
                <a:solidFill>
                  <a:srgbClr val="1F497D"/>
                </a:solidFill>
                <a:latin typeface="Arial"/>
              </a:rPr>
              <a:t>CLEAN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1759305" y="1600200"/>
            <a:ext cx="1192377" cy="365759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0">
                <a:solidFill>
                  <a:srgbClr val="555F6E"/>
                </a:solidFill>
                <a:latin typeface="Arial"/>
              </a:rPr>
              <a:t>IATA codes, one currency, all-in fares, outliers out</a:t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3033979" y="1353312"/>
            <a:ext cx="12700" cy="64008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3116275" y="1399032"/>
            <a:ext cx="1192377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3   </a:t>
            </a:r>
            <a:r>
              <a:rPr sz="880" b="1" i="0">
                <a:solidFill>
                  <a:srgbClr val="1F497D"/>
                </a:solidFill>
                <a:latin typeface="Arial"/>
              </a:rPr>
              <a:t>ADJUST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3116275" y="1600200"/>
            <a:ext cx="1192377" cy="365759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0">
                <a:solidFill>
                  <a:srgbClr val="555F6E"/>
                </a:solidFill>
                <a:latin typeface="Arial"/>
              </a:rPr>
              <a:t>hedonic model strips stops, duration, cabin, baggage</a:t>
            </a:r>
          </a:p>
        </p:txBody>
      </p:sp>
      <p:sp>
        <p:nvSpPr>
          <p:cNvPr id="17420" name="Rectangle 17419"/>
          <p:cNvSpPr/>
          <p:nvPr/>
        </p:nvSpPr>
        <p:spPr>
          <a:xfrm>
            <a:off x="4390948" y="1353312"/>
            <a:ext cx="12700" cy="64008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4473244" y="1399032"/>
            <a:ext cx="1192377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4   </a:t>
            </a:r>
            <a:r>
              <a:rPr sz="880" b="1" i="0">
                <a:solidFill>
                  <a:srgbClr val="1F497D"/>
                </a:solidFill>
                <a:latin typeface="Arial"/>
              </a:rPr>
              <a:t>INDEX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4473244" y="1600200"/>
            <a:ext cx="1192377" cy="365759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0">
                <a:solidFill>
                  <a:srgbClr val="555F6E"/>
                </a:solidFill>
                <a:latin typeface="Arial"/>
              </a:rPr>
              <a:t>Jevons → GEKS–Jevons → DGCA passenger weights</a:t>
            </a:r>
          </a:p>
        </p:txBody>
      </p:sp>
      <p:sp>
        <p:nvSpPr>
          <p:cNvPr id="17423" name="Rectangle 17422"/>
          <p:cNvSpPr/>
          <p:nvPr/>
        </p:nvSpPr>
        <p:spPr>
          <a:xfrm>
            <a:off x="5747918" y="1353312"/>
            <a:ext cx="12700" cy="64008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5830214" y="1399032"/>
            <a:ext cx="1192377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5   </a:t>
            </a:r>
            <a:r>
              <a:rPr sz="880" b="1" i="0">
                <a:solidFill>
                  <a:srgbClr val="1F497D"/>
                </a:solidFill>
                <a:latin typeface="Arial"/>
              </a:rPr>
              <a:t>PUBLISH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5830214" y="1600200"/>
            <a:ext cx="1192377" cy="365759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0">
                <a:solidFill>
                  <a:srgbClr val="555F6E"/>
                </a:solidFill>
                <a:latin typeface="Arial"/>
              </a:rPr>
              <a:t>REST + SDMX-JSON, dashboard, surge alerts to DGCA</a:t>
            </a:r>
          </a:p>
        </p:txBody>
      </p:sp>
      <p:sp>
        <p:nvSpPr>
          <p:cNvPr id="17426" name="Rectangle 17425"/>
          <p:cNvSpPr/>
          <p:nvPr/>
        </p:nvSpPr>
        <p:spPr>
          <a:xfrm>
            <a:off x="320040" y="2011680"/>
            <a:ext cx="6784848" cy="9525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320040" y="2066543"/>
            <a:ext cx="6784848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1">
                <a:solidFill>
                  <a:srgbClr val="8A93A2"/>
                </a:solidFill>
                <a:latin typeface="Arial"/>
              </a:rPr>
              <a:t>The pipeline runs without manual intervention. Sampling parameters are given in the specification, right.</a:t>
            </a:r>
          </a:p>
        </p:txBody>
      </p:sp>
      <p:sp>
        <p:nvSpPr>
          <p:cNvPr id="17428" name="Rectangle 17427"/>
          <p:cNvSpPr/>
          <p:nvPr/>
        </p:nvSpPr>
        <p:spPr>
          <a:xfrm>
            <a:off x="320040" y="2340864"/>
            <a:ext cx="6784848" cy="2032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320040" y="2391156"/>
            <a:ext cx="678484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EXHIBIT 4</a:t>
            </a:r>
            <a:r>
              <a:rPr sz="800" b="1" i="0">
                <a:solidFill>
                  <a:srgbClr val="1F497D"/>
                </a:solidFill>
                <a:latin typeface="Arial"/>
              </a:rPr>
              <a:t>     EFFECT OF THE INDEX FORMULA ON THE PUBLISHED FIGURE</a:t>
            </a:r>
          </a:p>
        </p:txBody>
      </p:sp>
      <p:pic>
        <p:nvPicPr>
          <p:cNvPr id="17430" name="Picture 17429" descr="n_dri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596896"/>
            <a:ext cx="5852160" cy="3156401"/>
          </a:xfrm>
          <a:prstGeom prst="rect">
            <a:avLst/>
          </a:prstGeom>
          <a:effectLst/>
        </p:spPr>
      </p:pic>
      <p:sp>
        <p:nvSpPr>
          <p:cNvPr id="17431" name="TextBox 17430"/>
          <p:cNvSpPr txBox="1"/>
          <p:nvPr/>
        </p:nvSpPr>
        <p:spPr>
          <a:xfrm>
            <a:off x="320040" y="5771585"/>
            <a:ext cx="678484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 i="0">
                <a:solidFill>
                  <a:srgbClr val="1F497D"/>
                </a:solidFill>
                <a:latin typeface="Arial"/>
              </a:rPr>
              <a:t>Source:  </a:t>
            </a:r>
            <a:r>
              <a:rPr sz="680" b="0" i="0">
                <a:solidFill>
                  <a:srgbClr val="8A93A2"/>
                </a:solidFill>
                <a:latin typeface="Arial"/>
              </a:rPr>
              <a:t>Simulation with constant true prices. Estimators per ONS Methodology Working Paper 12 and the ILO/IMF CPI Manual 2020.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320040" y="5972753"/>
            <a:ext cx="6784848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0">
                <a:solidFill>
                  <a:srgbClr val="1A1F2B"/>
                </a:solidFill>
                <a:latin typeface="Arial"/>
              </a:rPr>
              <a:t>P_J(0,t) = Πⱼ ( pⱼᵗ / pⱼ⁰ )^(1/n)          Index(t) = Σᵢ wᵢ Iᵢ(t) / Σᵢ wᵢ × 100,  wᵢ = DGCA base-period passengers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7251192" y="1133856"/>
            <a:ext cx="46177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F497D"/>
                </a:solidFill>
                <a:latin typeface="Arial"/>
              </a:rPr>
              <a:t>TECHNOLOGIES TO BE USED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7251192" y="1335024"/>
            <a:ext cx="461772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B86B00"/>
                </a:solidFill>
                <a:latin typeface="Arial"/>
              </a:rPr>
              <a:t>COLLECT   </a:t>
            </a:r>
            <a:r>
              <a:rPr sz="800" b="0" i="0">
                <a:solidFill>
                  <a:srgbClr val="1A1F2B"/>
                </a:solidFill>
                <a:latin typeface="Arial"/>
              </a:rPr>
              <a:t>Python 3.11 · Playwright · httpx · Redis + RQ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7251192" y="1577340"/>
            <a:ext cx="461772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B86B00"/>
                </a:solidFill>
                <a:latin typeface="Arial"/>
              </a:rPr>
              <a:t>STORE   </a:t>
            </a:r>
            <a:r>
              <a:rPr sz="800" b="0" i="0">
                <a:solidFill>
                  <a:srgbClr val="1A1F2B"/>
                </a:solidFill>
                <a:latin typeface="Arial"/>
              </a:rPr>
              <a:t>PostgreSQL 16 + TimescaleDB · Parquet / DuckDB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7251192" y="1819656"/>
            <a:ext cx="461772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B86B00"/>
                </a:solidFill>
                <a:latin typeface="Arial"/>
              </a:rPr>
              <a:t>PROCESS   </a:t>
            </a:r>
            <a:r>
              <a:rPr sz="800" b="0" i="0">
                <a:solidFill>
                  <a:srgbClr val="1A1F2B"/>
                </a:solidFill>
                <a:latin typeface="Arial"/>
              </a:rPr>
              <a:t>Polars · NumPy / SciPy · Great Expectations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7251192" y="2061972"/>
            <a:ext cx="461772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B86B00"/>
                </a:solidFill>
                <a:latin typeface="Arial"/>
              </a:rPr>
              <a:t>STATISTICS   </a:t>
            </a:r>
            <a:r>
              <a:rPr sz="800" b="0" i="0">
                <a:solidFill>
                  <a:srgbClr val="1A1F2B"/>
                </a:solidFill>
                <a:latin typeface="Arial"/>
              </a:rPr>
              <a:t>statsmodels · X-13ARIMA-SEATS · index library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7251192" y="2304288"/>
            <a:ext cx="461772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B86B00"/>
                </a:solidFill>
                <a:latin typeface="Arial"/>
              </a:rPr>
              <a:t>SERVE   </a:t>
            </a:r>
            <a:r>
              <a:rPr sz="800" b="0" i="0">
                <a:solidFill>
                  <a:srgbClr val="1A1F2B"/>
                </a:solidFill>
                <a:latin typeface="Arial"/>
              </a:rPr>
              <a:t>FastAPI · Pydantic v2 · SDMX-JSON · Swagger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7251192" y="2546604"/>
            <a:ext cx="461772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B86B00"/>
                </a:solidFill>
                <a:latin typeface="Arial"/>
              </a:rPr>
              <a:t>INTERFACE   </a:t>
            </a:r>
            <a:r>
              <a:rPr sz="800" b="0" i="0">
                <a:solidFill>
                  <a:srgbClr val="1A1F2B"/>
                </a:solidFill>
                <a:latin typeface="Arial"/>
              </a:rPr>
              <a:t>React 18 + Vite · visx · MapLibre + deck.gl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7251192" y="2788920"/>
            <a:ext cx="461772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B86B00"/>
                </a:solidFill>
                <a:latin typeface="Arial"/>
              </a:rPr>
              <a:t>OPERATE   </a:t>
            </a:r>
            <a:r>
              <a:rPr sz="800" b="0" i="0">
                <a:solidFill>
                  <a:srgbClr val="1A1F2B"/>
                </a:solidFill>
                <a:latin typeface="Arial"/>
              </a:rPr>
              <a:t>Docker Compose · Prometheus + Grafana · CI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7251192" y="3072384"/>
            <a:ext cx="46177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F497D"/>
                </a:solidFill>
                <a:latin typeface="Arial"/>
              </a:rPr>
              <a:t>INDEX SPECIFICATION</a:t>
            </a:r>
          </a:p>
        </p:txBody>
      </p:sp>
      <p:sp>
        <p:nvSpPr>
          <p:cNvPr id="17442" name="Rectangle 17441"/>
          <p:cNvSpPr/>
          <p:nvPr/>
        </p:nvSpPr>
        <p:spPr>
          <a:xfrm>
            <a:off x="7251192" y="3273552"/>
            <a:ext cx="4617720" cy="2032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3" name="TextBox 17442"/>
          <p:cNvSpPr txBox="1"/>
          <p:nvPr/>
        </p:nvSpPr>
        <p:spPr>
          <a:xfrm>
            <a:off x="7251192" y="3319272"/>
            <a:ext cx="1517904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40" b="1" i="0">
                <a:solidFill>
                  <a:srgbClr val="1F497D"/>
                </a:solidFill>
                <a:latin typeface="Arial"/>
              </a:rPr>
              <a:t>Collection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8769096" y="3319272"/>
            <a:ext cx="3099816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1A1F2B"/>
                </a:solidFill>
                <a:latin typeface="Arial"/>
              </a:rPr>
              <a:t>3 times daily, 02:00 / 11:00 / 19:00 IST</a:t>
            </a:r>
          </a:p>
        </p:txBody>
      </p:sp>
      <p:sp>
        <p:nvSpPr>
          <p:cNvPr id="17445" name="Rectangle 17444"/>
          <p:cNvSpPr/>
          <p:nvPr/>
        </p:nvSpPr>
        <p:spPr>
          <a:xfrm>
            <a:off x="7251192" y="3512210"/>
            <a:ext cx="4617720" cy="635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6" name="TextBox 17445"/>
          <p:cNvSpPr txBox="1"/>
          <p:nvPr/>
        </p:nvSpPr>
        <p:spPr>
          <a:xfrm>
            <a:off x="7251192" y="3544214"/>
            <a:ext cx="1517904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40" b="1" i="0">
                <a:solidFill>
                  <a:srgbClr val="1F497D"/>
                </a:solidFill>
                <a:latin typeface="Arial"/>
              </a:rPr>
              <a:t>Lead buckets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8769096" y="3544214"/>
            <a:ext cx="3099816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1A1F2B"/>
                </a:solidFill>
                <a:latin typeface="Arial"/>
              </a:rPr>
              <a:t>L1, L3, L7, L14, L21, L30, L45, L60</a:t>
            </a:r>
          </a:p>
        </p:txBody>
      </p:sp>
      <p:sp>
        <p:nvSpPr>
          <p:cNvPr id="17448" name="Rectangle 17447"/>
          <p:cNvSpPr/>
          <p:nvPr/>
        </p:nvSpPr>
        <p:spPr>
          <a:xfrm>
            <a:off x="7251192" y="3737152"/>
            <a:ext cx="4617720" cy="635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9" name="TextBox 17448"/>
          <p:cNvSpPr txBox="1"/>
          <p:nvPr/>
        </p:nvSpPr>
        <p:spPr>
          <a:xfrm>
            <a:off x="7251192" y="3769156"/>
            <a:ext cx="1517904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40" b="1" i="0">
                <a:solidFill>
                  <a:srgbClr val="1F497D"/>
                </a:solidFill>
                <a:latin typeface="Arial"/>
              </a:rPr>
              <a:t>Horizon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8769096" y="3769156"/>
            <a:ext cx="3099816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1A1F2B"/>
                </a:solidFill>
                <a:latin typeface="Arial"/>
              </a:rPr>
              <a:t>60 days forward, every departure date</a:t>
            </a:r>
          </a:p>
        </p:txBody>
      </p:sp>
      <p:sp>
        <p:nvSpPr>
          <p:cNvPr id="17451" name="Rectangle 17450"/>
          <p:cNvSpPr/>
          <p:nvPr/>
        </p:nvSpPr>
        <p:spPr>
          <a:xfrm>
            <a:off x="7251192" y="3962095"/>
            <a:ext cx="4617720" cy="635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2" name="TextBox 17451"/>
          <p:cNvSpPr txBox="1"/>
          <p:nvPr/>
        </p:nvSpPr>
        <p:spPr>
          <a:xfrm>
            <a:off x="7251192" y="3994099"/>
            <a:ext cx="1517904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40" b="1" i="0">
                <a:solidFill>
                  <a:srgbClr val="1F497D"/>
                </a:solidFill>
                <a:latin typeface="Arial"/>
              </a:rPr>
              <a:t>Attribution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8769096" y="3994099"/>
            <a:ext cx="3099816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1A1F2B"/>
                </a:solidFill>
                <a:latin typeface="Arial"/>
              </a:rPr>
              <a:t>month of departure (acquisition basis in parallel)</a:t>
            </a:r>
          </a:p>
        </p:txBody>
      </p:sp>
      <p:sp>
        <p:nvSpPr>
          <p:cNvPr id="17454" name="Rectangle 17453"/>
          <p:cNvSpPr/>
          <p:nvPr/>
        </p:nvSpPr>
        <p:spPr>
          <a:xfrm>
            <a:off x="7251192" y="4187037"/>
            <a:ext cx="4617720" cy="635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5" name="TextBox 17454"/>
          <p:cNvSpPr txBox="1"/>
          <p:nvPr/>
        </p:nvSpPr>
        <p:spPr>
          <a:xfrm>
            <a:off x="7251192" y="4219041"/>
            <a:ext cx="1517904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40" b="1" i="0">
                <a:solidFill>
                  <a:srgbClr val="1F497D"/>
                </a:solidFill>
                <a:latin typeface="Arial"/>
              </a:rPr>
              <a:t>Elementary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8769096" y="4219041"/>
            <a:ext cx="3099816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1A1F2B"/>
                </a:solidFill>
                <a:latin typeface="Arial"/>
              </a:rPr>
              <a:t>Jevons geometric mean, per route and bucket</a:t>
            </a:r>
          </a:p>
        </p:txBody>
      </p:sp>
      <p:sp>
        <p:nvSpPr>
          <p:cNvPr id="17457" name="Rectangle 17456"/>
          <p:cNvSpPr/>
          <p:nvPr/>
        </p:nvSpPr>
        <p:spPr>
          <a:xfrm>
            <a:off x="7251192" y="4411980"/>
            <a:ext cx="4617720" cy="635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8" name="TextBox 17457"/>
          <p:cNvSpPr txBox="1"/>
          <p:nvPr/>
        </p:nvSpPr>
        <p:spPr>
          <a:xfrm>
            <a:off x="7251192" y="4443984"/>
            <a:ext cx="1517904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40" b="1" i="0">
                <a:solidFill>
                  <a:srgbClr val="1F497D"/>
                </a:solidFill>
                <a:latin typeface="Arial"/>
              </a:rPr>
              <a:t>Multilateral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8769096" y="4443984"/>
            <a:ext cx="3099816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1A1F2B"/>
                </a:solidFill>
                <a:latin typeface="Arial"/>
              </a:rPr>
              <a:t>GEKS-Jevons, cross-checked with Time-Product-Dummy</a:t>
            </a:r>
          </a:p>
        </p:txBody>
      </p:sp>
      <p:sp>
        <p:nvSpPr>
          <p:cNvPr id="17460" name="Rectangle 17459"/>
          <p:cNvSpPr/>
          <p:nvPr/>
        </p:nvSpPr>
        <p:spPr>
          <a:xfrm>
            <a:off x="7251192" y="4636922"/>
            <a:ext cx="4617720" cy="635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1" name="TextBox 17460"/>
          <p:cNvSpPr txBox="1"/>
          <p:nvPr/>
        </p:nvSpPr>
        <p:spPr>
          <a:xfrm>
            <a:off x="7251192" y="4668926"/>
            <a:ext cx="1517904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40" b="1" i="0">
                <a:solidFill>
                  <a:srgbClr val="1F497D"/>
                </a:solidFill>
                <a:latin typeface="Arial"/>
              </a:rPr>
              <a:t>Window</a:t>
            </a:r>
          </a:p>
        </p:txBody>
      </p:sp>
      <p:sp>
        <p:nvSpPr>
          <p:cNvPr id="17462" name="TextBox 17461"/>
          <p:cNvSpPr txBox="1"/>
          <p:nvPr/>
        </p:nvSpPr>
        <p:spPr>
          <a:xfrm>
            <a:off x="8769096" y="4668926"/>
            <a:ext cx="3099816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1A1F2B"/>
                </a:solidFill>
                <a:latin typeface="Arial"/>
              </a:rPr>
              <a:t>25 months, rolling, extended by mean splicing</a:t>
            </a:r>
          </a:p>
        </p:txBody>
      </p:sp>
      <p:sp>
        <p:nvSpPr>
          <p:cNvPr id="17463" name="Rectangle 17462"/>
          <p:cNvSpPr/>
          <p:nvPr/>
        </p:nvSpPr>
        <p:spPr>
          <a:xfrm>
            <a:off x="7251192" y="4861864"/>
            <a:ext cx="4617720" cy="635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4" name="TextBox 17463"/>
          <p:cNvSpPr txBox="1"/>
          <p:nvPr/>
        </p:nvSpPr>
        <p:spPr>
          <a:xfrm>
            <a:off x="7251192" y="4893868"/>
            <a:ext cx="1517904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40" b="1" i="0">
                <a:solidFill>
                  <a:srgbClr val="1F497D"/>
                </a:solidFill>
                <a:latin typeface="Arial"/>
              </a:rPr>
              <a:t>Weights</a:t>
            </a:r>
          </a:p>
        </p:txBody>
      </p:sp>
      <p:sp>
        <p:nvSpPr>
          <p:cNvPr id="17465" name="TextBox 17464"/>
          <p:cNvSpPr txBox="1"/>
          <p:nvPr/>
        </p:nvSpPr>
        <p:spPr>
          <a:xfrm>
            <a:off x="8769096" y="4893868"/>
            <a:ext cx="3099816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1A1F2B"/>
                </a:solidFill>
                <a:latin typeface="Arial"/>
              </a:rPr>
              <a:t>DGCA base-period route passengers</a:t>
            </a:r>
          </a:p>
        </p:txBody>
      </p:sp>
      <p:sp>
        <p:nvSpPr>
          <p:cNvPr id="17466" name="Rectangle 17465"/>
          <p:cNvSpPr/>
          <p:nvPr/>
        </p:nvSpPr>
        <p:spPr>
          <a:xfrm>
            <a:off x="7251192" y="5086807"/>
            <a:ext cx="4617720" cy="635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7" name="TextBox 17466"/>
          <p:cNvSpPr txBox="1"/>
          <p:nvPr/>
        </p:nvSpPr>
        <p:spPr>
          <a:xfrm>
            <a:off x="7251192" y="5118811"/>
            <a:ext cx="1517904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40" b="1" i="0">
                <a:solidFill>
                  <a:srgbClr val="1F497D"/>
                </a:solidFill>
                <a:latin typeface="Arial"/>
              </a:rPr>
              <a:t>Seasonal</a:t>
            </a:r>
          </a:p>
        </p:txBody>
      </p:sp>
      <p:sp>
        <p:nvSpPr>
          <p:cNvPr id="17468" name="TextBox 17467"/>
          <p:cNvSpPr txBox="1"/>
          <p:nvPr/>
        </p:nvSpPr>
        <p:spPr>
          <a:xfrm>
            <a:off x="8769096" y="5118811"/>
            <a:ext cx="3099816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1A1F2B"/>
                </a:solidFill>
                <a:latin typeface="Arial"/>
              </a:rPr>
              <a:t>X-13ARIMA-SEATS, Indian moving-holiday regressors</a:t>
            </a:r>
          </a:p>
        </p:txBody>
      </p:sp>
      <p:sp>
        <p:nvSpPr>
          <p:cNvPr id="17469" name="Rectangle 17468"/>
          <p:cNvSpPr/>
          <p:nvPr/>
        </p:nvSpPr>
        <p:spPr>
          <a:xfrm>
            <a:off x="7251192" y="5311749"/>
            <a:ext cx="4617720" cy="635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0" name="TextBox 17469"/>
          <p:cNvSpPr txBox="1"/>
          <p:nvPr/>
        </p:nvSpPr>
        <p:spPr>
          <a:xfrm>
            <a:off x="7251192" y="5343753"/>
            <a:ext cx="1517904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40" b="1" i="0">
                <a:solidFill>
                  <a:srgbClr val="1F497D"/>
                </a:solidFill>
                <a:latin typeface="Arial"/>
              </a:rPr>
              <a:t>Output</a:t>
            </a:r>
          </a:p>
        </p:txBody>
      </p:sp>
      <p:sp>
        <p:nvSpPr>
          <p:cNvPr id="17471" name="TextBox 17470"/>
          <p:cNvSpPr txBox="1"/>
          <p:nvPr/>
        </p:nvSpPr>
        <p:spPr>
          <a:xfrm>
            <a:off x="8769096" y="5343753"/>
            <a:ext cx="3099816" cy="20665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1A1F2B"/>
                </a:solidFill>
                <a:latin typeface="Arial"/>
              </a:rPr>
              <a:t>REST, SDMX-JSON, monthly bulletin</a:t>
            </a:r>
          </a:p>
        </p:txBody>
      </p:sp>
      <p:sp>
        <p:nvSpPr>
          <p:cNvPr id="17472" name="Rectangle 17471"/>
          <p:cNvSpPr/>
          <p:nvPr/>
        </p:nvSpPr>
        <p:spPr>
          <a:xfrm>
            <a:off x="7251192" y="5536692"/>
            <a:ext cx="4617720" cy="635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3" name="Rectangle 17472"/>
          <p:cNvSpPr/>
          <p:nvPr/>
        </p:nvSpPr>
        <p:spPr>
          <a:xfrm>
            <a:off x="7251192" y="5660136"/>
            <a:ext cx="4617720" cy="2032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4" name="TextBox 17473"/>
          <p:cNvSpPr txBox="1"/>
          <p:nvPr/>
        </p:nvSpPr>
        <p:spPr>
          <a:xfrm>
            <a:off x="7251192" y="5733288"/>
            <a:ext cx="461772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40" b="1" i="0">
                <a:solidFill>
                  <a:srgbClr val="B86B00"/>
                </a:solidFill>
                <a:latin typeface="Arial"/>
              </a:rPr>
              <a:t>OUT OF SCOPE BY DESIGN   </a:t>
            </a:r>
          </a:p>
        </p:txBody>
      </p:sp>
      <p:sp>
        <p:nvSpPr>
          <p:cNvPr id="17475" name="TextBox 17474"/>
          <p:cNvSpPr txBox="1"/>
          <p:nvPr/>
        </p:nvSpPr>
        <p:spPr>
          <a:xfrm>
            <a:off x="7251192" y="5916168"/>
            <a:ext cx="4617720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55F6E"/>
                </a:solidFill>
                <a:latin typeface="Arial"/>
              </a:rPr>
              <a:t>No CAPTCHA solving, no login or paywall circumvention, no fingerprint spoofing, and no personal data at any stage. Two of the three intake lanes do not scrape.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36576"/>
            <a:ext cx="7955279" cy="1005840"/>
          </a:xfrm>
          <a:effectLst/>
        </p:spPr>
        <p:txBody>
          <a:bodyPr wrap="square" anchor="ctr"/>
          <a:lstStyle/>
          <a:p>
            <a:pPr eaLnBrk="1" hangingPunct="1" algn="ctr"/>
            <a:r>
              <a:rPr lang="en-US" sz="3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  <a:effectLst/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effectLst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 b="1"/>
              <a:t>Bharat Bytes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  <a:effectLst/>
        </p:spPr>
      </p:pic>
      <p:sp>
        <p:nvSpPr>
          <p:cNvPr id="17410" name="TextBox 17409"/>
          <p:cNvSpPr txBox="1"/>
          <p:nvPr/>
        </p:nvSpPr>
        <p:spPr>
          <a:xfrm>
            <a:off x="320040" y="1133856"/>
            <a:ext cx="57607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F497D"/>
                </a:solidFill>
                <a:latin typeface="Arial"/>
              </a:rPr>
              <a:t>ANALYSIS OF THE FEASIBILITY OF THE IDEA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320040" y="1316736"/>
            <a:ext cx="5577840" cy="1524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320040" y="1362456"/>
            <a:ext cx="557784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1" i="0">
                <a:solidFill>
                  <a:srgbClr val="1F497D"/>
                </a:solidFill>
                <a:latin typeface="Arial"/>
              </a:rPr>
              <a:t>COLLECTION BASIS IS STATUTORY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320040" y="1540764"/>
            <a:ext cx="5577840" cy="45262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55F6E"/>
                </a:solidFill>
                <a:latin typeface="Arial"/>
              </a:rPr>
              <a:t>Rule 135(2), Aircraft Rules 1937 obliges every airline to publish its tariff. Two of our three intake lanes therefore need no scraping at all.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320040" y="2084831"/>
            <a:ext cx="5577840" cy="1524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320040" y="2130551"/>
            <a:ext cx="557784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1" i="0">
                <a:solidFill>
                  <a:srgbClr val="1F497D"/>
                </a:solidFill>
                <a:latin typeface="Arial"/>
              </a:rPr>
              <a:t>COMPONENTS ARE STANDARD AND UNLICENSED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320040" y="2308860"/>
            <a:ext cx="5577840" cy="45262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55F6E"/>
                </a:solidFill>
                <a:latin typeface="Arial"/>
              </a:rPr>
              <a:t>Python, Playwright, PostgreSQL, statsmodels, FastAPI, React, Docker. Nothing exotic, nothing licensed, nothing to procure.</a:t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320040" y="2889504"/>
            <a:ext cx="5577840" cy="2032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320040" y="2939796"/>
            <a:ext cx="55778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EXHIBIT 5</a:t>
            </a:r>
            <a:r>
              <a:rPr sz="800" b="1" i="0">
                <a:solidFill>
                  <a:srgbClr val="1F497D"/>
                </a:solidFill>
                <a:latin typeface="Arial"/>
              </a:rPr>
              <a:t>     IMPLIED DATA VOLUME</a:t>
            </a:r>
          </a:p>
        </p:txBody>
      </p:sp>
      <p:pic>
        <p:nvPicPr>
          <p:cNvPr id="17419" name="Picture 17418" descr="n_volu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145536"/>
            <a:ext cx="5577840" cy="2797635"/>
          </a:xfrm>
          <a:prstGeom prst="rect">
            <a:avLst/>
          </a:prstGeom>
          <a:effectLst/>
        </p:spPr>
      </p:pic>
      <p:sp>
        <p:nvSpPr>
          <p:cNvPr id="17420" name="TextBox 17419"/>
          <p:cNvSpPr txBox="1"/>
          <p:nvPr/>
        </p:nvSpPr>
        <p:spPr>
          <a:xfrm>
            <a:off x="320040" y="5961459"/>
            <a:ext cx="55778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 i="0">
                <a:solidFill>
                  <a:srgbClr val="1F497D"/>
                </a:solidFill>
                <a:latin typeface="Arial"/>
              </a:rPr>
              <a:t>Source:  </a:t>
            </a:r>
            <a:r>
              <a:rPr sz="680" b="0" i="0">
                <a:solidFill>
                  <a:srgbClr val="8A93A2"/>
                </a:solidFill>
                <a:latin typeface="Arial"/>
              </a:rPr>
              <a:t>Derived from the sampling design set out in the specification on slide 3.</a:t>
            </a:r>
          </a:p>
        </p:txBody>
      </p:sp>
      <p:sp>
        <p:nvSpPr>
          <p:cNvPr id="17421" name="Rectangle 17420"/>
          <p:cNvSpPr/>
          <p:nvPr/>
        </p:nvSpPr>
        <p:spPr>
          <a:xfrm>
            <a:off x="6062471" y="1133856"/>
            <a:ext cx="5577840" cy="2032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6062471" y="1184148"/>
            <a:ext cx="55778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EXHIBIT 6</a:t>
            </a:r>
            <a:r>
              <a:rPr sz="800" b="1" i="0">
                <a:solidFill>
                  <a:srgbClr val="1F497D"/>
                </a:solidFill>
                <a:latin typeface="Arial"/>
              </a:rPr>
              <a:t>     POTENTIAL CHALLENGES AND RISKS</a:t>
            </a:r>
          </a:p>
        </p:txBody>
      </p:sp>
      <p:pic>
        <p:nvPicPr>
          <p:cNvPr id="17423" name="Picture 17422" descr="n_ris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2471" y="1389888"/>
            <a:ext cx="5577840" cy="2844602"/>
          </a:xfrm>
          <a:prstGeom prst="rect">
            <a:avLst/>
          </a:prstGeom>
          <a:effectLst/>
        </p:spPr>
      </p:pic>
      <p:sp>
        <p:nvSpPr>
          <p:cNvPr id="17424" name="TextBox 17423"/>
          <p:cNvSpPr txBox="1"/>
          <p:nvPr/>
        </p:nvSpPr>
        <p:spPr>
          <a:xfrm>
            <a:off x="6062471" y="4252778"/>
            <a:ext cx="55778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 i="0">
                <a:solidFill>
                  <a:srgbClr val="1F497D"/>
                </a:solidFill>
                <a:latin typeface="Arial"/>
              </a:rPr>
              <a:t>Source:  </a:t>
            </a:r>
            <a:r>
              <a:rPr sz="680" b="0" i="0">
                <a:solidFill>
                  <a:srgbClr val="8A93A2"/>
                </a:solidFill>
                <a:latin typeface="Arial"/>
              </a:rPr>
              <a:t>Team assessment. Each entry is answered in the strategies below.</a:t>
            </a:r>
          </a:p>
        </p:txBody>
      </p:sp>
      <p:sp>
        <p:nvSpPr>
          <p:cNvPr id="17425" name="Rectangle 17424"/>
          <p:cNvSpPr/>
          <p:nvPr/>
        </p:nvSpPr>
        <p:spPr>
          <a:xfrm>
            <a:off x="6062471" y="4498848"/>
            <a:ext cx="5577840" cy="2032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6062471" y="4549140"/>
            <a:ext cx="55778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1F497D"/>
                </a:solidFill>
                <a:latin typeface="Arial"/>
              </a:rPr>
              <a:t>STRATEGIES FOR OVERCOMING THESE CHALLENGES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6062471" y="4773168"/>
            <a:ext cx="1389888" cy="19385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 i="0">
                <a:solidFill>
                  <a:srgbClr val="1A1F2B"/>
                </a:solidFill>
                <a:latin typeface="Arial"/>
              </a:rPr>
              <a:t>1  Portal blocks us</a:t>
            </a:r>
          </a:p>
        </p:txBody>
      </p:sp>
      <p:sp>
        <p:nvSpPr>
          <p:cNvPr id="17428" name="Right Arrow 17427"/>
          <p:cNvSpPr/>
          <p:nvPr/>
        </p:nvSpPr>
        <p:spPr>
          <a:xfrm>
            <a:off x="7488935" y="4833518"/>
            <a:ext cx="146304" cy="91440"/>
          </a:xfrm>
          <a:prstGeom prst="rightArrow">
            <a:avLst/>
          </a:prstGeom>
          <a:solidFill>
            <a:srgbClr val="B8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7690103" y="4773168"/>
            <a:ext cx="3950208" cy="19385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55F6E"/>
                </a:solidFill>
                <a:latin typeface="Arial"/>
              </a:rPr>
              <a:t>three independent lanes; A and B are statutory and contractual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6062471" y="4985308"/>
            <a:ext cx="1389888" cy="19385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 i="0">
                <a:solidFill>
                  <a:srgbClr val="1A1F2B"/>
                </a:solidFill>
                <a:latin typeface="Arial"/>
              </a:rPr>
              <a:t>2  Legal challenge</a:t>
            </a:r>
          </a:p>
        </p:txBody>
      </p:sp>
      <p:sp>
        <p:nvSpPr>
          <p:cNvPr id="17431" name="Right Arrow 17430"/>
          <p:cNvSpPr/>
          <p:nvPr/>
        </p:nvSpPr>
        <p:spPr>
          <a:xfrm>
            <a:off x="7488935" y="5045659"/>
            <a:ext cx="146304" cy="91440"/>
          </a:xfrm>
          <a:prstGeom prst="rightArrow">
            <a:avLst/>
          </a:prstGeom>
          <a:solidFill>
            <a:srgbClr val="B8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TextBox 17431"/>
          <p:cNvSpPr txBox="1"/>
          <p:nvPr/>
        </p:nvSpPr>
        <p:spPr>
          <a:xfrm>
            <a:off x="7690103" y="4985308"/>
            <a:ext cx="3950208" cy="19385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55F6E"/>
                </a:solidFill>
                <a:latin typeface="Arial"/>
              </a:rPr>
              <a:t>Rule 135(2) mandate + Collection of Statistics Act 2008; zero PII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6062471" y="5197449"/>
            <a:ext cx="1389888" cy="19385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 i="0">
                <a:solidFill>
                  <a:srgbClr val="1A1F2B"/>
                </a:solidFill>
                <a:latin typeface="Arial"/>
              </a:rPr>
              <a:t>3  No 2024 base fares</a:t>
            </a:r>
          </a:p>
        </p:txBody>
      </p:sp>
      <p:sp>
        <p:nvSpPr>
          <p:cNvPr id="17434" name="Right Arrow 17433"/>
          <p:cNvSpPr/>
          <p:nvPr/>
        </p:nvSpPr>
        <p:spPr>
          <a:xfrm>
            <a:off x="7488935" y="5257800"/>
            <a:ext cx="146304" cy="91440"/>
          </a:xfrm>
          <a:prstGeom prst="rightArrow">
            <a:avLst/>
          </a:prstGeom>
          <a:solidFill>
            <a:srgbClr val="B8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TextBox 17434"/>
          <p:cNvSpPr txBox="1"/>
          <p:nvPr/>
        </p:nvSpPr>
        <p:spPr>
          <a:xfrm>
            <a:off x="7690103" y="5197449"/>
            <a:ext cx="3950208" cy="19385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55F6E"/>
                </a:solidFill>
                <a:latin typeface="Arial"/>
              </a:rPr>
              <a:t>backcast from DGCA yields; published provisional with a band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6062471" y="5409590"/>
            <a:ext cx="1389888" cy="19385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 i="0">
                <a:solidFill>
                  <a:srgbClr val="1A1F2B"/>
                </a:solidFill>
                <a:latin typeface="Arial"/>
              </a:rPr>
              <a:t>4  Chain drift</a:t>
            </a:r>
          </a:p>
        </p:txBody>
      </p:sp>
      <p:sp>
        <p:nvSpPr>
          <p:cNvPr id="17437" name="Right Arrow 17436"/>
          <p:cNvSpPr/>
          <p:nvPr/>
        </p:nvSpPr>
        <p:spPr>
          <a:xfrm>
            <a:off x="7488935" y="5469940"/>
            <a:ext cx="146304" cy="91440"/>
          </a:xfrm>
          <a:prstGeom prst="rightArrow">
            <a:avLst/>
          </a:prstGeom>
          <a:solidFill>
            <a:srgbClr val="B8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8" name="TextBox 17437"/>
          <p:cNvSpPr txBox="1"/>
          <p:nvPr/>
        </p:nvSpPr>
        <p:spPr>
          <a:xfrm>
            <a:off x="7690103" y="5409590"/>
            <a:ext cx="3950208" cy="19385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55F6E"/>
                </a:solidFill>
                <a:latin typeface="Arial"/>
              </a:rPr>
              <a:t>GEKS–Jevons and TPD on a 25-month rolling window, mean spliced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6062471" y="5621731"/>
            <a:ext cx="1389888" cy="19385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 i="0">
                <a:solidFill>
                  <a:srgbClr val="1A1F2B"/>
                </a:solidFill>
                <a:latin typeface="Arial"/>
              </a:rPr>
              <a:t>5  Listed ≠ paid</a:t>
            </a:r>
          </a:p>
        </p:txBody>
      </p:sp>
      <p:sp>
        <p:nvSpPr>
          <p:cNvPr id="17440" name="Right Arrow 17439"/>
          <p:cNvSpPr/>
          <p:nvPr/>
        </p:nvSpPr>
        <p:spPr>
          <a:xfrm>
            <a:off x="7488935" y="5682081"/>
            <a:ext cx="146304" cy="91440"/>
          </a:xfrm>
          <a:prstGeom prst="rightArrow">
            <a:avLst/>
          </a:prstGeom>
          <a:solidFill>
            <a:srgbClr val="B8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1" name="TextBox 17440"/>
          <p:cNvSpPr txBox="1"/>
          <p:nvPr/>
        </p:nvSpPr>
        <p:spPr>
          <a:xfrm>
            <a:off x="7690103" y="5621731"/>
            <a:ext cx="3950208" cy="19385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55F6E"/>
                </a:solidFill>
                <a:latin typeface="Arial"/>
              </a:rPr>
              <a:t>yield calibration from DGCA route revenue, published with uncertainty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6062471" y="5833872"/>
            <a:ext cx="1389888" cy="19385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 i="0">
                <a:solidFill>
                  <a:srgbClr val="1A1F2B"/>
                </a:solidFill>
                <a:latin typeface="Arial"/>
              </a:rPr>
              <a:t>6  Parser breaks</a:t>
            </a:r>
          </a:p>
        </p:txBody>
      </p:sp>
      <p:sp>
        <p:nvSpPr>
          <p:cNvPr id="17443" name="Right Arrow 17442"/>
          <p:cNvSpPr/>
          <p:nvPr/>
        </p:nvSpPr>
        <p:spPr>
          <a:xfrm>
            <a:off x="7488935" y="5894222"/>
            <a:ext cx="146304" cy="91440"/>
          </a:xfrm>
          <a:prstGeom prst="rightArrow">
            <a:avLst/>
          </a:prstGeom>
          <a:solidFill>
            <a:srgbClr val="B8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4" name="TextBox 17443"/>
          <p:cNvSpPr txBox="1"/>
          <p:nvPr/>
        </p:nvSpPr>
        <p:spPr>
          <a:xfrm>
            <a:off x="7690103" y="5833872"/>
            <a:ext cx="3950208" cy="19385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55F6E"/>
                </a:solidFill>
                <a:latin typeface="Arial"/>
              </a:rPr>
              <a:t>config-driven selectors, schema-drift detector, per-lane SLO alarms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6062471" y="6046012"/>
            <a:ext cx="1389888" cy="19385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 i="0">
                <a:solidFill>
                  <a:srgbClr val="1A1F2B"/>
                </a:solidFill>
                <a:latin typeface="Arial"/>
              </a:rPr>
              <a:t>7  Demo network dies</a:t>
            </a:r>
          </a:p>
        </p:txBody>
      </p:sp>
      <p:sp>
        <p:nvSpPr>
          <p:cNvPr id="17446" name="Right Arrow 17445"/>
          <p:cNvSpPr/>
          <p:nvPr/>
        </p:nvSpPr>
        <p:spPr>
          <a:xfrm>
            <a:off x="7488935" y="6106363"/>
            <a:ext cx="146304" cy="91440"/>
          </a:xfrm>
          <a:prstGeom prst="rightArrow">
            <a:avLst/>
          </a:prstGeom>
          <a:solidFill>
            <a:srgbClr val="B8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7" name="TextBox 17446"/>
          <p:cNvSpPr txBox="1"/>
          <p:nvPr/>
        </p:nvSpPr>
        <p:spPr>
          <a:xfrm>
            <a:off x="7690103" y="6046012"/>
            <a:ext cx="3950208" cy="19385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55F6E"/>
                </a:solidFill>
                <a:latin typeface="Arial"/>
              </a:rPr>
              <a:t>seeded 21-day dataset, fully offline Docker Compose, backup video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36576"/>
            <a:ext cx="7955279" cy="1005840"/>
          </a:xfrm>
          <a:effectLst/>
        </p:spPr>
        <p:txBody>
          <a:bodyPr wrap="square" anchor="ctr"/>
          <a:lstStyle/>
          <a:p>
            <a:pPr eaLnBrk="1" hangingPunct="1" algn="ctr"/>
            <a:r>
              <a:rPr lang="en-US" sz="3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  <a:effectLst/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effectLst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 b="1"/>
              <a:t>Bharat Bytes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  <a:effectLst/>
        </p:spPr>
      </p:pic>
      <p:sp>
        <p:nvSpPr>
          <p:cNvPr id="17410" name="Rectangle 17409"/>
          <p:cNvSpPr/>
          <p:nvPr/>
        </p:nvSpPr>
        <p:spPr>
          <a:xfrm>
            <a:off x="320040" y="1115568"/>
            <a:ext cx="5577840" cy="2032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320040" y="1165860"/>
            <a:ext cx="55778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EXHIBIT 7</a:t>
            </a:r>
            <a:r>
              <a:rPr sz="800" b="1" i="0">
                <a:solidFill>
                  <a:srgbClr val="1F497D"/>
                </a:solidFill>
                <a:latin typeface="Arial"/>
              </a:rPr>
              <a:t>     POTENTIAL IMPACT ON THE TARGET AUDIENCE</a:t>
            </a:r>
          </a:p>
        </p:txBody>
      </p:sp>
      <p:pic>
        <p:nvPicPr>
          <p:cNvPr id="17412" name="Picture 17411" descr="n_imp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371600"/>
            <a:ext cx="5120640" cy="2353315"/>
          </a:xfrm>
          <a:prstGeom prst="rect">
            <a:avLst/>
          </a:prstGeom>
          <a:effectLst/>
        </p:spPr>
      </p:pic>
      <p:sp>
        <p:nvSpPr>
          <p:cNvPr id="17413" name="TextBox 17412"/>
          <p:cNvSpPr txBox="1"/>
          <p:nvPr/>
        </p:nvSpPr>
        <p:spPr>
          <a:xfrm>
            <a:off x="320040" y="3743203"/>
            <a:ext cx="55778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 i="0">
                <a:solidFill>
                  <a:srgbClr val="1F497D"/>
                </a:solidFill>
                <a:latin typeface="Arial"/>
              </a:rPr>
              <a:t>Source:  </a:t>
            </a:r>
            <a:r>
              <a:rPr sz="680" b="0" i="0">
                <a:solidFill>
                  <a:srgbClr val="8A93A2"/>
                </a:solidFill>
                <a:latin typeface="Arial"/>
              </a:rPr>
              <a:t>Present method per PIB PRID 1810467. VIMAAN figures are design parameters.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320040" y="3986784"/>
            <a:ext cx="5577840" cy="2032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320040" y="4037076"/>
            <a:ext cx="55778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EXHIBIT 8</a:t>
            </a:r>
            <a:r>
              <a:rPr sz="800" b="1" i="0">
                <a:solidFill>
                  <a:srgbClr val="1F497D"/>
                </a:solidFill>
                <a:latin typeface="Arial"/>
              </a:rPr>
              <a:t>     POSITION WITHIN THE CPI 2024 BASKET</a:t>
            </a:r>
          </a:p>
        </p:txBody>
      </p:sp>
      <p:pic>
        <p:nvPicPr>
          <p:cNvPr id="17416" name="Picture 17415" descr="n_cp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4242816"/>
            <a:ext cx="4937760" cy="1835533"/>
          </a:xfrm>
          <a:prstGeom prst="rect">
            <a:avLst/>
          </a:prstGeom>
          <a:effectLst/>
        </p:spPr>
      </p:pic>
      <p:sp>
        <p:nvSpPr>
          <p:cNvPr id="17417" name="TextBox 17416"/>
          <p:cNvSpPr txBox="1"/>
          <p:nvPr/>
        </p:nvSpPr>
        <p:spPr>
          <a:xfrm>
            <a:off x="320040" y="6096637"/>
            <a:ext cx="55778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 i="0">
                <a:solidFill>
                  <a:srgbClr val="1F497D"/>
                </a:solidFill>
                <a:latin typeface="Arial"/>
              </a:rPr>
              <a:t>Source:  </a:t>
            </a:r>
            <a:r>
              <a:rPr sz="680" b="0" i="0">
                <a:solidFill>
                  <a:srgbClr val="8A93A2"/>
                </a:solidFill>
                <a:latin typeface="Arial"/>
              </a:rPr>
              <a:t>MoSPI, Consumer Price Index base 2024 = 100. First release, PIB PRID 2227012.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062471" y="1133856"/>
            <a:ext cx="57607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F497D"/>
                </a:solidFill>
                <a:latin typeface="Arial"/>
              </a:rPr>
              <a:t>TRANSMISSION OF THE INDEX INTO POLICY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6062471" y="1335024"/>
            <a:ext cx="5577840" cy="2032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6144767" y="1399032"/>
            <a:ext cx="1120139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i="0">
                <a:solidFill>
                  <a:srgbClr val="1F497D"/>
                </a:solidFill>
                <a:latin typeface="Arial"/>
              </a:rPr>
              <a:t>Millions of fares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6144767" y="1591056"/>
            <a:ext cx="1120139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0" i="0">
                <a:solidFill>
                  <a:srgbClr val="555F6E"/>
                </a:solidFill>
                <a:latin typeface="Arial"/>
              </a:rPr>
              <a:t>517 routes, 3× daily</a:t>
            </a:r>
          </a:p>
        </p:txBody>
      </p:sp>
      <p:sp>
        <p:nvSpPr>
          <p:cNvPr id="17422" name="Right Arrow 17421"/>
          <p:cNvSpPr/>
          <p:nvPr/>
        </p:nvSpPr>
        <p:spPr>
          <a:xfrm>
            <a:off x="7388352" y="1451610"/>
            <a:ext cx="137160" cy="96012"/>
          </a:xfrm>
          <a:prstGeom prst="rightArrow">
            <a:avLst/>
          </a:prstGeom>
          <a:solidFill>
            <a:srgbClr val="B8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7539227" y="1399032"/>
            <a:ext cx="1120139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i="0">
                <a:solidFill>
                  <a:srgbClr val="1F497D"/>
                </a:solidFill>
                <a:latin typeface="Arial"/>
              </a:rPr>
              <a:t>VIMAAN index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7539227" y="1591056"/>
            <a:ext cx="1120139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0" i="0">
                <a:solidFill>
                  <a:srgbClr val="555F6E"/>
                </a:solidFill>
                <a:latin typeface="Arial"/>
              </a:rPr>
              <a:t>quality-adjusted</a:t>
            </a:r>
          </a:p>
        </p:txBody>
      </p:sp>
      <p:sp>
        <p:nvSpPr>
          <p:cNvPr id="17425" name="Right Arrow 17424"/>
          <p:cNvSpPr/>
          <p:nvPr/>
        </p:nvSpPr>
        <p:spPr>
          <a:xfrm>
            <a:off x="8782812" y="1451610"/>
            <a:ext cx="137160" cy="96012"/>
          </a:xfrm>
          <a:prstGeom prst="rightArrow">
            <a:avLst/>
          </a:prstGeom>
          <a:solidFill>
            <a:srgbClr val="B8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8933688" y="1399032"/>
            <a:ext cx="1120139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i="0">
                <a:solidFill>
                  <a:srgbClr val="1F497D"/>
                </a:solidFill>
                <a:latin typeface="Arial"/>
              </a:rPr>
              <a:t>CPI 2024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8933688" y="1591056"/>
            <a:ext cx="1120139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0" i="0">
                <a:solidFill>
                  <a:srgbClr val="555F6E"/>
                </a:solidFill>
                <a:latin typeface="Arial"/>
              </a:rPr>
              <a:t>transport, 9.43%</a:t>
            </a:r>
          </a:p>
        </p:txBody>
      </p:sp>
      <p:sp>
        <p:nvSpPr>
          <p:cNvPr id="17428" name="Right Arrow 17427"/>
          <p:cNvSpPr/>
          <p:nvPr/>
        </p:nvSpPr>
        <p:spPr>
          <a:xfrm>
            <a:off x="10177272" y="1451610"/>
            <a:ext cx="137160" cy="96012"/>
          </a:xfrm>
          <a:prstGeom prst="rightArrow">
            <a:avLst/>
          </a:prstGeom>
          <a:solidFill>
            <a:srgbClr val="B8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Rectangle 17428"/>
          <p:cNvSpPr/>
          <p:nvPr/>
        </p:nvSpPr>
        <p:spPr>
          <a:xfrm>
            <a:off x="10245851" y="1335024"/>
            <a:ext cx="1394460" cy="20320"/>
          </a:xfrm>
          <a:prstGeom prst="rect">
            <a:avLst/>
          </a:prstGeom>
          <a:solidFill>
            <a:srgbClr val="B8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TextBox 17429"/>
          <p:cNvSpPr txBox="1"/>
          <p:nvPr/>
        </p:nvSpPr>
        <p:spPr>
          <a:xfrm>
            <a:off x="10328147" y="1399032"/>
            <a:ext cx="1120139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i="0">
                <a:solidFill>
                  <a:srgbClr val="B86B00"/>
                </a:solidFill>
                <a:latin typeface="Arial"/>
              </a:rPr>
              <a:t>Repo rate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10328147" y="1591056"/>
            <a:ext cx="1120139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0" i="0">
                <a:solidFill>
                  <a:srgbClr val="555F6E"/>
                </a:solidFill>
                <a:latin typeface="Arial"/>
              </a:rPr>
              <a:t>EMIs for 140 crore</a:t>
            </a:r>
          </a:p>
        </p:txBody>
      </p:sp>
      <p:sp>
        <p:nvSpPr>
          <p:cNvPr id="17432" name="Rectangle 17431"/>
          <p:cNvSpPr/>
          <p:nvPr/>
        </p:nvSpPr>
        <p:spPr>
          <a:xfrm>
            <a:off x="6062471" y="2029967"/>
            <a:ext cx="5577840" cy="635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TextBox 17432"/>
          <p:cNvSpPr txBox="1"/>
          <p:nvPr/>
        </p:nvSpPr>
        <p:spPr>
          <a:xfrm>
            <a:off x="6062471" y="2066543"/>
            <a:ext cx="55778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 i="0">
                <a:solidFill>
                  <a:srgbClr val="1F497D"/>
                </a:solidFill>
                <a:latin typeface="Arial"/>
              </a:rPr>
              <a:t>Source:  </a:t>
            </a:r>
            <a:r>
              <a:rPr sz="680" b="0" i="0">
                <a:solidFill>
                  <a:srgbClr val="8A93A2"/>
                </a:solidFill>
                <a:latin typeface="Arial"/>
              </a:rPr>
              <a:t>CPI group weight from MoSPI. Repo transmission is the standard monetary policy channel, not a claim specific to this project.</a:t>
            </a:r>
          </a:p>
        </p:txBody>
      </p:sp>
      <p:sp>
        <p:nvSpPr>
          <p:cNvPr id="17434" name="Rectangle 17433"/>
          <p:cNvSpPr/>
          <p:nvPr/>
        </p:nvSpPr>
        <p:spPr>
          <a:xfrm>
            <a:off x="6062471" y="2304288"/>
            <a:ext cx="5577840" cy="2032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TextBox 17434"/>
          <p:cNvSpPr txBox="1"/>
          <p:nvPr/>
        </p:nvSpPr>
        <p:spPr>
          <a:xfrm>
            <a:off x="6062471" y="2354580"/>
            <a:ext cx="55778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1F497D"/>
                </a:solidFill>
                <a:latin typeface="Arial"/>
              </a:rPr>
              <a:t>BENEFITS OF THE SOLUTION (SOCIAL, ECONOMIC, ENVIRONMENTAL)</a:t>
            </a:r>
          </a:p>
        </p:txBody>
      </p:sp>
      <p:sp>
        <p:nvSpPr>
          <p:cNvPr id="17436" name="Rectangle 17435"/>
          <p:cNvSpPr/>
          <p:nvPr/>
        </p:nvSpPr>
        <p:spPr>
          <a:xfrm>
            <a:off x="6062471" y="2596896"/>
            <a:ext cx="5577840" cy="1524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TextBox 17436"/>
          <p:cNvSpPr txBox="1"/>
          <p:nvPr/>
        </p:nvSpPr>
        <p:spPr>
          <a:xfrm>
            <a:off x="6062471" y="2642615"/>
            <a:ext cx="557784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1" i="0">
                <a:solidFill>
                  <a:srgbClr val="1F497D"/>
                </a:solidFill>
                <a:latin typeface="Arial"/>
              </a:rPr>
              <a:t>ECONOMIC — MOSPI AND THE RBI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6062471" y="2820924"/>
            <a:ext cx="5577840" cy="5257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55F6E"/>
                </a:solidFill>
                <a:latin typeface="Arial"/>
              </a:rPr>
              <a:t>An unbiased, quality-adjusted airfare component feeds headline CPI, which sets the repo rate. Better input, better monetary policy.</a:t>
            </a:r>
          </a:p>
        </p:txBody>
      </p:sp>
      <p:sp>
        <p:nvSpPr>
          <p:cNvPr id="17439" name="Rectangle 17438"/>
          <p:cNvSpPr/>
          <p:nvPr/>
        </p:nvSpPr>
        <p:spPr>
          <a:xfrm>
            <a:off x="6062471" y="3383279"/>
            <a:ext cx="5577840" cy="1524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0" name="TextBox 17439"/>
          <p:cNvSpPr txBox="1"/>
          <p:nvPr/>
        </p:nvSpPr>
        <p:spPr>
          <a:xfrm>
            <a:off x="6062471" y="3428999"/>
            <a:ext cx="557784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1" i="0">
                <a:solidFill>
                  <a:srgbClr val="1F497D"/>
                </a:solidFill>
                <a:latin typeface="Arial"/>
              </a:rPr>
              <a:t>ADMINISTRATIVE — DGCA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6062471" y="3607308"/>
            <a:ext cx="5577840" cy="5257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55F6E"/>
                </a:solidFill>
                <a:latin typeface="Arial"/>
              </a:rPr>
              <a:t>Tariff monitoring goes from 78 hand-checked routes a month to 517 routes three times a day, with automatic fare-surge alerts.</a:t>
            </a:r>
          </a:p>
        </p:txBody>
      </p:sp>
      <p:sp>
        <p:nvSpPr>
          <p:cNvPr id="17442" name="Rectangle 17441"/>
          <p:cNvSpPr/>
          <p:nvPr/>
        </p:nvSpPr>
        <p:spPr>
          <a:xfrm>
            <a:off x="6062471" y="4169663"/>
            <a:ext cx="5577840" cy="1524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3" name="TextBox 17442"/>
          <p:cNvSpPr txBox="1"/>
          <p:nvPr/>
        </p:nvSpPr>
        <p:spPr>
          <a:xfrm>
            <a:off x="6062471" y="4215383"/>
            <a:ext cx="557784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1" i="0">
                <a:solidFill>
                  <a:srgbClr val="1F497D"/>
                </a:solidFill>
                <a:latin typeface="Arial"/>
              </a:rPr>
              <a:t>SOCIAL — CITIZENS AND TRAVELLERS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6062471" y="4393692"/>
            <a:ext cx="5577840" cy="5257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55F6E"/>
                </a:solidFill>
                <a:latin typeface="Arial"/>
              </a:rPr>
              <a:t>Public route and lead-time indices expose the true advance-purchase penalty and festival-season surges. No such statistic exists for India today.</a:t>
            </a:r>
          </a:p>
        </p:txBody>
      </p:sp>
      <p:sp>
        <p:nvSpPr>
          <p:cNvPr id="17445" name="Rectangle 17444"/>
          <p:cNvSpPr/>
          <p:nvPr/>
        </p:nvSpPr>
        <p:spPr>
          <a:xfrm>
            <a:off x="6062471" y="4956048"/>
            <a:ext cx="5577840" cy="1524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6" name="TextBox 17445"/>
          <p:cNvSpPr txBox="1"/>
          <p:nvPr/>
        </p:nvSpPr>
        <p:spPr>
          <a:xfrm>
            <a:off x="6062471" y="5001768"/>
            <a:ext cx="557784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1" i="0">
                <a:solidFill>
                  <a:srgbClr val="1F497D"/>
                </a:solidFill>
                <a:latin typeface="Arial"/>
              </a:rPr>
              <a:t>ENVIRONMENTAL — MOCA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6062471" y="5180076"/>
            <a:ext cx="5577840" cy="5257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55F6E"/>
                </a:solidFill>
                <a:latin typeface="Arial"/>
              </a:rPr>
              <a:t>Field price collection is replaced by an automated feed, removing enumerator travel. The ATF pass-through model shows how much of a fare rise is fuel.</a:t>
            </a:r>
          </a:p>
        </p:txBody>
      </p:sp>
      <p:sp>
        <p:nvSpPr>
          <p:cNvPr id="17448" name="Rectangle 17447"/>
          <p:cNvSpPr/>
          <p:nvPr/>
        </p:nvSpPr>
        <p:spPr>
          <a:xfrm>
            <a:off x="6062471" y="5779008"/>
            <a:ext cx="5577840" cy="15240"/>
          </a:xfrm>
          <a:prstGeom prst="rect">
            <a:avLst/>
          </a:prstGeom>
          <a:solidFill>
            <a:srgbClr val="B8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9" name="TextBox 17448"/>
          <p:cNvSpPr txBox="1"/>
          <p:nvPr/>
        </p:nvSpPr>
        <p:spPr>
          <a:xfrm>
            <a:off x="6062471" y="5824728"/>
            <a:ext cx="557784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1" i="0">
                <a:solidFill>
                  <a:srgbClr val="B86B00"/>
                </a:solidFill>
                <a:latin typeface="Arial"/>
              </a:rPr>
              <a:t>STATISTICAL — MOSPI, RBI AND THE IMF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6062471" y="6003036"/>
            <a:ext cx="5577840" cy="2697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55F6E"/>
                </a:solidFill>
                <a:latin typeface="Arial"/>
              </a:rPr>
              <a:t>SDMX-JSON is ingested without manual handling. Hashed provenance makes every published value defensible under statistical audit and under RTI.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36576"/>
            <a:ext cx="7955279" cy="1005840"/>
          </a:xfrm>
          <a:effectLst/>
        </p:spPr>
        <p:txBody>
          <a:bodyPr wrap="square" anchor="ctr"/>
          <a:lstStyle/>
          <a:p>
            <a:pPr eaLnBrk="1" hangingPunct="1" algn="ctr"/>
            <a:r>
              <a:rPr lang="en-US" sz="3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  <a:effectLst/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effectLst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 b="1"/>
              <a:t>Bharat Bytes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  <a:effectLst/>
        </p:spPr>
      </p:pic>
      <p:sp>
        <p:nvSpPr>
          <p:cNvPr id="17410" name="TextBox 17409"/>
          <p:cNvSpPr txBox="1"/>
          <p:nvPr/>
        </p:nvSpPr>
        <p:spPr>
          <a:xfrm>
            <a:off x="320040" y="1115568"/>
            <a:ext cx="11548872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F497D"/>
                </a:solidFill>
                <a:latin typeface="Arial"/>
              </a:rPr>
              <a:t>DETAILS / LINKS OF THE REFERENCE AND RESEARCH WORK  ·  EACH SOURCE, AND WHAT IT SETTLES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20040" y="1316736"/>
            <a:ext cx="3739896" cy="329184"/>
          </a:xfrm>
          <a:prstGeom prst="roundRect">
            <a:avLst>
              <a:gd name="adj" fmla="val 6000"/>
            </a:avLst>
          </a:prstGeom>
          <a:solidFill>
            <a:srgbClr val="1F497D"/>
          </a:solidFill>
          <a:ln w="952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A   INDIAN STATUTORY BASIS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320040" y="1682496"/>
            <a:ext cx="3739896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1">
                <a:solidFill>
                  <a:srgbClr val="555F6E"/>
                </a:solidFill>
                <a:latin typeface="Arial"/>
              </a:rPr>
              <a:t>Establishes that the data is public and that MoSPI may collect it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224528" y="1316736"/>
            <a:ext cx="3739896" cy="329184"/>
          </a:xfrm>
          <a:prstGeom prst="roundRect">
            <a:avLst>
              <a:gd name="adj" fmla="val 6000"/>
            </a:avLst>
          </a:prstGeom>
          <a:solidFill>
            <a:srgbClr val="B86B00"/>
          </a:solidFill>
          <a:ln w="9525">
            <a:solidFill>
              <a:srgbClr val="B8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B   INTERNATIONAL METHOD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224528" y="1682496"/>
            <a:ext cx="3739896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1">
                <a:solidFill>
                  <a:srgbClr val="555F6E"/>
                </a:solidFill>
                <a:latin typeface="Arial"/>
              </a:rPr>
              <a:t>Establishes that our estimators are the ones NSOs already use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8129016" y="1316736"/>
            <a:ext cx="3739896" cy="329184"/>
          </a:xfrm>
          <a:prstGeom prst="roundRect">
            <a:avLst>
              <a:gd name="adj" fmla="val 6000"/>
            </a:avLst>
          </a:prstGeom>
          <a:solidFill>
            <a:srgbClr val="1B7A3C"/>
          </a:solidFill>
          <a:ln w="9525">
            <a:solidFill>
              <a:srgbClr val="1B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C   OUR OWN VALIDATION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8129016" y="1682496"/>
            <a:ext cx="3739896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1">
                <a:solidFill>
                  <a:srgbClr val="555F6E"/>
                </a:solidFill>
                <a:latin typeface="Arial"/>
              </a:rPr>
              <a:t>Establishes how anyone can check the number we publish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320040" y="2029968"/>
            <a:ext cx="3739896" cy="47548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1F497D"/>
                </a:solidFill>
                <a:latin typeface="Arial"/>
              </a:rPr>
              <a:t>1.  </a:t>
            </a:r>
            <a:r>
              <a:rPr sz="800" b="1" i="0">
                <a:solidFill>
                  <a:srgbClr val="1F497D"/>
                </a:solidFill>
                <a:latin typeface="Arial"/>
              </a:rPr>
              <a:t>MoSPI — FAQs on the CPI 2024 Series, Annexure V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5F6E"/>
                </a:solidFill>
                <a:latin typeface="Arial"/>
              </a:rPr>
              <a:t>     airfare prices are collected through online platforms   </a:t>
            </a:r>
            <a:r>
              <a:rPr sz="700" b="1" i="0">
                <a:solidFill>
                  <a:srgbClr val="8A93A2"/>
                </a:solidFill>
                <a:latin typeface="Arial"/>
              </a:rPr>
              <a:t>mospi.gov.in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320040" y="2564892"/>
            <a:ext cx="3739896" cy="47548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1F497D"/>
                </a:solidFill>
                <a:latin typeface="Arial"/>
              </a:rPr>
              <a:t>2.  </a:t>
            </a:r>
            <a:r>
              <a:rPr sz="800" b="1" i="0">
                <a:solidFill>
                  <a:srgbClr val="1F497D"/>
                </a:solidFill>
                <a:latin typeface="Arial"/>
              </a:rPr>
              <a:t>PIB — first CPI release on base 2024 = 100, 12 Feb 2026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5F6E"/>
                </a:solidFill>
                <a:latin typeface="Arial"/>
              </a:rPr>
              <a:t>     358 items · COICOP 2018 · Transport weight 9.43%   </a:t>
            </a:r>
            <a:r>
              <a:rPr sz="700" b="1" i="0">
                <a:solidFill>
                  <a:srgbClr val="8A93A2"/>
                </a:solidFill>
                <a:latin typeface="Arial"/>
              </a:rPr>
              <a:t>PRID 2227012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320040" y="3099816"/>
            <a:ext cx="3739896" cy="47548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1F497D"/>
                </a:solidFill>
                <a:latin typeface="Arial"/>
              </a:rPr>
              <a:t>3.  </a:t>
            </a:r>
            <a:r>
              <a:rPr sz="800" b="1" i="0">
                <a:solidFill>
                  <a:srgbClr val="1F497D"/>
                </a:solidFill>
                <a:latin typeface="Arial"/>
              </a:rPr>
              <a:t>Aircraft Rules, 1937 — Rule 135(2)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5F6E"/>
                </a:solidFill>
                <a:latin typeface="Arial"/>
              </a:rPr>
              <a:t>     every airline shall publish its established tariff   </a:t>
            </a:r>
            <a:r>
              <a:rPr sz="700" b="1" i="0">
                <a:solidFill>
                  <a:srgbClr val="8A93A2"/>
                </a:solidFill>
                <a:latin typeface="Arial"/>
              </a:rPr>
              <a:t>civilaviation.gov.in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320040" y="3634740"/>
            <a:ext cx="3739896" cy="47548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1F497D"/>
                </a:solidFill>
                <a:latin typeface="Arial"/>
              </a:rPr>
              <a:t>4.  </a:t>
            </a:r>
            <a:r>
              <a:rPr sz="800" b="1" i="0">
                <a:solidFill>
                  <a:srgbClr val="1F497D"/>
                </a:solidFill>
                <a:latin typeface="Arial"/>
              </a:rPr>
              <a:t>Collection of Statistics Act, 2008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5F6E"/>
                </a:solidFill>
                <a:latin typeface="Arial"/>
              </a:rPr>
              <a:t>     statutory mandate for official price collection   </a:t>
            </a:r>
            <a:r>
              <a:rPr sz="700" b="1" i="0">
                <a:solidFill>
                  <a:srgbClr val="8A93A2"/>
                </a:solidFill>
                <a:latin typeface="Arial"/>
              </a:rPr>
              <a:t>indiacode.nic.in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320040" y="4169664"/>
            <a:ext cx="3739896" cy="47548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1F497D"/>
                </a:solidFill>
                <a:latin typeface="Arial"/>
              </a:rPr>
              <a:t>5.  </a:t>
            </a:r>
            <a:r>
              <a:rPr sz="800" b="1" i="0">
                <a:solidFill>
                  <a:srgbClr val="1F497D"/>
                </a:solidFill>
                <a:latin typeface="Arial"/>
              </a:rPr>
              <a:t>PIB / MoCA — DGCA Tariff Monitoring Unit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5F6E"/>
                </a:solidFill>
                <a:latin typeface="Arial"/>
              </a:rPr>
              <a:t>     78 routes, monthly, read by hand from airline sites   </a:t>
            </a:r>
            <a:r>
              <a:rPr sz="700" b="1" i="0">
                <a:solidFill>
                  <a:srgbClr val="8A93A2"/>
                </a:solidFill>
                <a:latin typeface="Arial"/>
              </a:rPr>
              <a:t>PRID 1810467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320040" y="4704588"/>
            <a:ext cx="3739896" cy="47548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1F497D"/>
                </a:solidFill>
                <a:latin typeface="Arial"/>
              </a:rPr>
              <a:t>6.  </a:t>
            </a:r>
            <a:r>
              <a:rPr sz="800" b="1" i="0">
                <a:solidFill>
                  <a:srgbClr val="1F497D"/>
                </a:solidFill>
                <a:latin typeface="Arial"/>
              </a:rPr>
              <a:t>DGCA — Monthly Domestic Traffic Statistics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5F6E"/>
                </a:solidFill>
                <a:latin typeface="Arial"/>
              </a:rPr>
              <a:t>     route-wise passengers — our index weights   </a:t>
            </a:r>
            <a:r>
              <a:rPr sz="700" b="1" i="0">
                <a:solidFill>
                  <a:srgbClr val="8A93A2"/>
                </a:solidFill>
                <a:latin typeface="Arial"/>
              </a:rPr>
              <a:t>dgca.gov.in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320040" y="5239512"/>
            <a:ext cx="3739896" cy="47548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1F497D"/>
                </a:solidFill>
                <a:latin typeface="Arial"/>
              </a:rPr>
              <a:t>7.  </a:t>
            </a:r>
            <a:r>
              <a:rPr sz="800" b="1" i="0">
                <a:solidFill>
                  <a:srgbClr val="1F497D"/>
                </a:solidFill>
                <a:latin typeface="Arial"/>
              </a:rPr>
              <a:t>MoSPI — Expert Group Report on updation of the CPI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5F6E"/>
                </a:solidFill>
                <a:latin typeface="Arial"/>
              </a:rPr>
              <a:t>     weight derivation and item-basket methodology   </a:t>
            </a:r>
            <a:r>
              <a:rPr sz="700" b="1" i="0">
                <a:solidFill>
                  <a:srgbClr val="8A93A2"/>
                </a:solidFill>
                <a:latin typeface="Arial"/>
              </a:rPr>
              <a:t>mospi.gov.in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4224528" y="2029968"/>
            <a:ext cx="3739896" cy="47548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8.  </a:t>
            </a:r>
            <a:r>
              <a:rPr sz="800" b="1" i="0">
                <a:solidFill>
                  <a:srgbClr val="1F497D"/>
                </a:solidFill>
                <a:latin typeface="Arial"/>
              </a:rPr>
              <a:t>ONS — aggregate index of air fares (FOI-2023-1164)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5F6E"/>
                </a:solidFill>
                <a:latin typeface="Arial"/>
              </a:rPr>
              <a:t>     fixed advance-purchase windows; month-of-departure basis   </a:t>
            </a:r>
            <a:r>
              <a:rPr sz="700" b="1" i="0">
                <a:solidFill>
                  <a:srgbClr val="8A93A2"/>
                </a:solidFill>
                <a:latin typeface="Arial"/>
              </a:rPr>
              <a:t>ons.gov.uk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4224528" y="2564892"/>
            <a:ext cx="3739896" cy="47548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9.  </a:t>
            </a:r>
            <a:r>
              <a:rPr sz="800" b="1" i="0">
                <a:solidFill>
                  <a:srgbClr val="1F497D"/>
                </a:solidFill>
                <a:latin typeface="Arial"/>
              </a:rPr>
              <a:t>ONS — Methodology Working Paper 12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5F6E"/>
                </a:solidFill>
                <a:latin typeface="Arial"/>
              </a:rPr>
              <a:t>     index-number methods on web-scraped price data   </a:t>
            </a:r>
            <a:r>
              <a:rPr sz="700" b="1" i="0">
                <a:solidFill>
                  <a:srgbClr val="8A93A2"/>
                </a:solidFill>
                <a:latin typeface="Arial"/>
              </a:rPr>
              <a:t>ons.gov.uk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4224528" y="3099816"/>
            <a:ext cx="3739896" cy="47548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10.  </a:t>
            </a:r>
            <a:r>
              <a:rPr sz="800" b="1" i="0">
                <a:solidFill>
                  <a:srgbClr val="1F497D"/>
                </a:solidFill>
                <a:latin typeface="Arial"/>
              </a:rPr>
              <a:t>ONS — multilateral methods in consumer price statistics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5F6E"/>
                </a:solidFill>
                <a:latin typeface="Arial"/>
              </a:rPr>
              <a:t>     GEKS–Jevons, TPD, rolling windows, splicing   </a:t>
            </a:r>
            <a:r>
              <a:rPr sz="700" b="1" i="0">
                <a:solidFill>
                  <a:srgbClr val="8A93A2"/>
                </a:solidFill>
                <a:latin typeface="Arial"/>
              </a:rPr>
              <a:t>ons.gov.uk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4224528" y="3634740"/>
            <a:ext cx="3739896" cy="47548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11.  </a:t>
            </a:r>
            <a:r>
              <a:rPr sz="800" b="1" i="0">
                <a:solidFill>
                  <a:srgbClr val="1F497D"/>
                </a:solidFill>
                <a:latin typeface="Arial"/>
              </a:rPr>
              <a:t>ILO / IMF / OECD / Eurostat — CPI Manual 2020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5F6E"/>
                </a:solidFill>
                <a:latin typeface="Arial"/>
              </a:rPr>
              <a:t>     why Jevons, not Carli or Dutot, for elementary aggregates   </a:t>
            </a:r>
            <a:r>
              <a:rPr sz="700" b="1" i="0">
                <a:solidFill>
                  <a:srgbClr val="8A93A2"/>
                </a:solidFill>
                <a:latin typeface="Arial"/>
              </a:rPr>
              <a:t>imf.org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4224528" y="4169664"/>
            <a:ext cx="3739896" cy="47548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12.  </a:t>
            </a:r>
            <a:r>
              <a:rPr sz="800" b="1" i="0">
                <a:solidFill>
                  <a:srgbClr val="1F497D"/>
                </a:solidFill>
                <a:latin typeface="Arial"/>
              </a:rPr>
              <a:t>Statistics Canada — Air Transportation Index, 2020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5F6E"/>
                </a:solidFill>
                <a:latin typeface="Arial"/>
              </a:rPr>
              <a:t>     dynamic airline pricing inside an official index   </a:t>
            </a:r>
            <a:r>
              <a:rPr sz="700" b="1" i="0">
                <a:solidFill>
                  <a:srgbClr val="8A93A2"/>
                </a:solidFill>
                <a:latin typeface="Arial"/>
              </a:rPr>
              <a:t>statcan.gc.ca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4224528" y="4704588"/>
            <a:ext cx="3739896" cy="47548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13.  </a:t>
            </a:r>
            <a:r>
              <a:rPr sz="800" b="1" i="0">
                <a:solidFill>
                  <a:srgbClr val="1F497D"/>
                </a:solidFill>
                <a:latin typeface="Arial"/>
              </a:rPr>
              <a:t>Statistics Netherlands / Eurostat — web scraping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5F6E"/>
                </a:solidFill>
                <a:latin typeface="Arial"/>
              </a:rPr>
              <a:t>     25-month window guidance and chain-drift evidence   </a:t>
            </a:r>
            <a:r>
              <a:rPr sz="700" b="1" i="0">
                <a:solidFill>
                  <a:srgbClr val="8A93A2"/>
                </a:solidFill>
                <a:latin typeface="Arial"/>
              </a:rPr>
              <a:t>unece.org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4224528" y="5239512"/>
            <a:ext cx="3739896" cy="47548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14.  </a:t>
            </a:r>
            <a:r>
              <a:rPr sz="800" b="1" i="0">
                <a:solidFill>
                  <a:srgbClr val="1F497D"/>
                </a:solidFill>
                <a:latin typeface="Arial"/>
              </a:rPr>
              <a:t>IOCL — Aviation Turbine Fuel price circulars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5F6E"/>
                </a:solidFill>
                <a:latin typeface="Arial"/>
              </a:rPr>
              <a:t>     input to the fuel pass-through model   </a:t>
            </a:r>
            <a:r>
              <a:rPr sz="700" b="1" i="0">
                <a:solidFill>
                  <a:srgbClr val="8A93A2"/>
                </a:solidFill>
                <a:latin typeface="Arial"/>
              </a:rPr>
              <a:t>iocl.com</a:t>
            </a:r>
          </a:p>
        </p:txBody>
      </p:sp>
      <p:sp>
        <p:nvSpPr>
          <p:cNvPr id="17431" name="Rectangle 17430"/>
          <p:cNvSpPr/>
          <p:nvPr/>
        </p:nvSpPr>
        <p:spPr>
          <a:xfrm>
            <a:off x="8129016" y="2029968"/>
            <a:ext cx="3739896" cy="1524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TextBox 17431"/>
          <p:cNvSpPr txBox="1"/>
          <p:nvPr/>
        </p:nvSpPr>
        <p:spPr>
          <a:xfrm>
            <a:off x="8129016" y="2075688"/>
            <a:ext cx="3739896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1" i="0">
                <a:solidFill>
                  <a:srgbClr val="1F497D"/>
                </a:solidFill>
                <a:latin typeface="Arial"/>
              </a:rPr>
              <a:t>DATASETS ASSEMBLED BEFORE HOUR ZERO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8129016" y="2253996"/>
            <a:ext cx="3739896" cy="5623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55F6E"/>
                </a:solidFill>
                <a:latin typeface="Arial"/>
              </a:rPr>
              <a:t>routes_top500.csv (DGCA), dgca_pax_weights.csv, base_2024_fares.csv (backcast), airports.geojson, atf_prices.csv (IOCL), festival_calendar.csv</a:t>
            </a:r>
          </a:p>
        </p:txBody>
      </p:sp>
      <p:sp>
        <p:nvSpPr>
          <p:cNvPr id="17434" name="Rectangle 17433"/>
          <p:cNvSpPr/>
          <p:nvPr/>
        </p:nvSpPr>
        <p:spPr>
          <a:xfrm>
            <a:off x="8129016" y="2944368"/>
            <a:ext cx="3739896" cy="1524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TextBox 17434"/>
          <p:cNvSpPr txBox="1"/>
          <p:nvPr/>
        </p:nvSpPr>
        <p:spPr>
          <a:xfrm>
            <a:off x="8129016" y="2990088"/>
            <a:ext cx="3739896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1" i="0">
                <a:solidFill>
                  <a:srgbClr val="1F497D"/>
                </a:solidFill>
                <a:latin typeface="Arial"/>
              </a:rPr>
              <a:t>HOW THE INDEX WILL BE VALIDATED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8129016" y="3168396"/>
            <a:ext cx="3739896" cy="7452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55F6E"/>
                </a:solidFill>
                <a:latin typeface="Arial"/>
              </a:rPr>
              <a:t>Benchmarked against MoSPI's own manually collected airfare series over overlapping months. Cross-lane divergence tests with a flag threshold. Leave-one-route-out sensitivity on the DGCA weights. A published revision policy.</a:t>
            </a:r>
          </a:p>
        </p:txBody>
      </p:sp>
      <p:sp>
        <p:nvSpPr>
          <p:cNvPr id="17437" name="Rectangle 17436"/>
          <p:cNvSpPr/>
          <p:nvPr/>
        </p:nvSpPr>
        <p:spPr>
          <a:xfrm>
            <a:off x="320040" y="5522976"/>
            <a:ext cx="7644384" cy="1524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8" name="TextBox 17437"/>
          <p:cNvSpPr txBox="1"/>
          <p:nvPr/>
        </p:nvSpPr>
        <p:spPr>
          <a:xfrm>
            <a:off x="320040" y="5568696"/>
            <a:ext cx="764438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1" i="0">
                <a:solidFill>
                  <a:srgbClr val="1F497D"/>
                </a:solidFill>
                <a:latin typeface="Arial"/>
              </a:rPr>
              <a:t>STANDING OF THE METHOD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320040" y="5747004"/>
            <a:ext cx="7644384" cy="5257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55F6E"/>
                </a:solidFill>
                <a:latin typeface="Arial"/>
              </a:rPr>
              <a:t>The collection basis is statutory and the estimators are those already in use by the UK Office for National Statistics, Statistics Canada and Statistics Netherlands on web-collected prices. The contribution here is their application to Indian route data, with the supporting evidence published alongside every figure.</a:t>
            </a:r>
          </a:p>
        </p:txBody>
      </p:sp>
      <p:sp>
        <p:nvSpPr>
          <p:cNvPr id="17440" name="Rectangle 17439"/>
          <p:cNvSpPr/>
          <p:nvPr/>
        </p:nvSpPr>
        <p:spPr>
          <a:xfrm>
            <a:off x="8129016" y="4078224"/>
            <a:ext cx="3739896" cy="20320"/>
          </a:xfrm>
          <a:prstGeom prst="rect">
            <a:avLst/>
          </a:prstGeom>
          <a:solidFill>
            <a:srgbClr val="B8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1" name="TextBox 17440"/>
          <p:cNvSpPr txBox="1"/>
          <p:nvPr/>
        </p:nvSpPr>
        <p:spPr>
          <a:xfrm>
            <a:off x="8129016" y="4128515"/>
            <a:ext cx="3739896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B86B00"/>
                </a:solidFill>
                <a:latin typeface="Arial"/>
              </a:rPr>
              <a:t>DISTINCTION FROM A FARE-SEARCH PRODUCT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8129016" y="4352544"/>
            <a:ext cx="120700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 i="0">
                <a:solidFill>
                  <a:srgbClr val="1F497D"/>
                </a:solidFill>
                <a:latin typeface="Arial"/>
              </a:rPr>
              <a:t>Unit of observation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9372600" y="4352544"/>
            <a:ext cx="2496312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40" b="0" i="0">
                <a:solidFill>
                  <a:srgbClr val="555F6E"/>
                </a:solidFill>
                <a:latin typeface="Arial"/>
              </a:rPr>
              <a:t>a price surface, not a single price</a:t>
            </a:r>
          </a:p>
        </p:txBody>
      </p:sp>
      <p:sp>
        <p:nvSpPr>
          <p:cNvPr id="17444" name="Rectangle 17443"/>
          <p:cNvSpPr/>
          <p:nvPr/>
        </p:nvSpPr>
        <p:spPr>
          <a:xfrm>
            <a:off x="8129016" y="4544568"/>
            <a:ext cx="3739896" cy="508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5" name="TextBox 17444"/>
          <p:cNvSpPr txBox="1"/>
          <p:nvPr/>
        </p:nvSpPr>
        <p:spPr>
          <a:xfrm>
            <a:off x="8129016" y="4576572"/>
            <a:ext cx="120700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 i="0">
                <a:solidFill>
                  <a:srgbClr val="1F497D"/>
                </a:solidFill>
                <a:latin typeface="Arial"/>
              </a:rPr>
              <a:t>Elementary aggregate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9372600" y="4576572"/>
            <a:ext cx="2496312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40" b="0" i="0">
                <a:solidFill>
                  <a:srgbClr val="555F6E"/>
                </a:solidFill>
                <a:latin typeface="Arial"/>
              </a:rPr>
              <a:t>Jevons geometric mean, not an arithmetic average</a:t>
            </a:r>
          </a:p>
        </p:txBody>
      </p:sp>
      <p:sp>
        <p:nvSpPr>
          <p:cNvPr id="17447" name="Rectangle 17446"/>
          <p:cNvSpPr/>
          <p:nvPr/>
        </p:nvSpPr>
        <p:spPr>
          <a:xfrm>
            <a:off x="8129016" y="4768596"/>
            <a:ext cx="3739896" cy="508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8" name="TextBox 17447"/>
          <p:cNvSpPr txBox="1"/>
          <p:nvPr/>
        </p:nvSpPr>
        <p:spPr>
          <a:xfrm>
            <a:off x="8129016" y="4800600"/>
            <a:ext cx="120700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 i="0">
                <a:solidFill>
                  <a:srgbClr val="1F497D"/>
                </a:solidFill>
                <a:latin typeface="Arial"/>
              </a:rPr>
              <a:t>Multilateral stage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9372600" y="4800600"/>
            <a:ext cx="2496312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40" b="0" i="0">
                <a:solidFill>
                  <a:srgbClr val="555F6E"/>
                </a:solidFill>
                <a:latin typeface="Arial"/>
              </a:rPr>
              <a:t>GEKS-Jevons on a rolling window</a:t>
            </a:r>
          </a:p>
        </p:txBody>
      </p:sp>
      <p:sp>
        <p:nvSpPr>
          <p:cNvPr id="17450" name="Rectangle 17449"/>
          <p:cNvSpPr/>
          <p:nvPr/>
        </p:nvSpPr>
        <p:spPr>
          <a:xfrm>
            <a:off x="8129016" y="4992624"/>
            <a:ext cx="3739896" cy="508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1" name="TextBox 17450"/>
          <p:cNvSpPr txBox="1"/>
          <p:nvPr/>
        </p:nvSpPr>
        <p:spPr>
          <a:xfrm>
            <a:off x="8129016" y="5024628"/>
            <a:ext cx="120700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 i="0">
                <a:solidFill>
                  <a:srgbClr val="1F497D"/>
                </a:solidFill>
                <a:latin typeface="Arial"/>
              </a:rPr>
              <a:t>Attribution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9372600" y="5024628"/>
            <a:ext cx="2496312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40" b="0" i="0">
                <a:solidFill>
                  <a:srgbClr val="555F6E"/>
                </a:solidFill>
                <a:latin typeface="Arial"/>
              </a:rPr>
              <a:t>month of departure, DGCA passenger weights</a:t>
            </a:r>
          </a:p>
        </p:txBody>
      </p:sp>
      <p:sp>
        <p:nvSpPr>
          <p:cNvPr id="17453" name="Rectangle 17452"/>
          <p:cNvSpPr/>
          <p:nvPr/>
        </p:nvSpPr>
        <p:spPr>
          <a:xfrm>
            <a:off x="8129016" y="5216652"/>
            <a:ext cx="3739896" cy="508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4" name="TextBox 17453"/>
          <p:cNvSpPr txBox="1"/>
          <p:nvPr/>
        </p:nvSpPr>
        <p:spPr>
          <a:xfrm>
            <a:off x="8129016" y="5248656"/>
            <a:ext cx="120700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 i="0">
                <a:solidFill>
                  <a:srgbClr val="1F497D"/>
                </a:solidFill>
                <a:latin typeface="Arial"/>
              </a:rPr>
              <a:t>Delivery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9372600" y="5248656"/>
            <a:ext cx="2496312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40" b="0" i="0">
                <a:solidFill>
                  <a:srgbClr val="555F6E"/>
                </a:solidFill>
                <a:latin typeface="Arial"/>
              </a:rPr>
              <a:t>an SDMX statistical feed, not only a dashboard</a:t>
            </a:r>
          </a:p>
        </p:txBody>
      </p:sp>
      <p:sp>
        <p:nvSpPr>
          <p:cNvPr id="17456" name="Rectangle 17455"/>
          <p:cNvSpPr/>
          <p:nvPr/>
        </p:nvSpPr>
        <p:spPr>
          <a:xfrm>
            <a:off x="8129016" y="5440680"/>
            <a:ext cx="3739896" cy="508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7" name="TextBox 17456"/>
          <p:cNvSpPr txBox="1"/>
          <p:nvPr/>
        </p:nvSpPr>
        <p:spPr>
          <a:xfrm>
            <a:off x="8129016" y="5472684"/>
            <a:ext cx="120700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 i="0">
                <a:solidFill>
                  <a:srgbClr val="1F497D"/>
                </a:solidFill>
                <a:latin typeface="Arial"/>
              </a:rPr>
              <a:t>Auditability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9372600" y="5472684"/>
            <a:ext cx="2496312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40" b="0" i="0">
                <a:solidFill>
                  <a:srgbClr val="555F6E"/>
                </a:solidFill>
                <a:latin typeface="Arial"/>
              </a:rPr>
              <a:t>a reproducibility hash on every published value</a:t>
            </a:r>
          </a:p>
        </p:txBody>
      </p:sp>
      <p:sp>
        <p:nvSpPr>
          <p:cNvPr id="17459" name="Rectangle 17458"/>
          <p:cNvSpPr/>
          <p:nvPr/>
        </p:nvSpPr>
        <p:spPr>
          <a:xfrm>
            <a:off x="8129016" y="5664708"/>
            <a:ext cx="3739896" cy="508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0" name="TextBox 17459"/>
          <p:cNvSpPr txBox="1"/>
          <p:nvPr/>
        </p:nvSpPr>
        <p:spPr>
          <a:xfrm>
            <a:off x="8129016" y="5696712"/>
            <a:ext cx="120700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 i="0">
                <a:solidFill>
                  <a:srgbClr val="1F497D"/>
                </a:solidFill>
                <a:latin typeface="Arial"/>
              </a:rPr>
              <a:t>Collection basis</a:t>
            </a:r>
          </a:p>
        </p:txBody>
      </p:sp>
      <p:sp>
        <p:nvSpPr>
          <p:cNvPr id="17461" name="TextBox 17460"/>
          <p:cNvSpPr txBox="1"/>
          <p:nvPr/>
        </p:nvSpPr>
        <p:spPr>
          <a:xfrm>
            <a:off x="9372600" y="5696712"/>
            <a:ext cx="2496312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40" b="0" i="0">
                <a:solidFill>
                  <a:srgbClr val="555F6E"/>
                </a:solidFill>
                <a:latin typeface="Arial"/>
              </a:rPr>
              <a:t>two of three lanes statutory, not scraped</a:t>
            </a:r>
          </a:p>
        </p:txBody>
      </p:sp>
      <p:sp>
        <p:nvSpPr>
          <p:cNvPr id="17462" name="Rectangle 17461"/>
          <p:cNvSpPr/>
          <p:nvPr/>
        </p:nvSpPr>
        <p:spPr>
          <a:xfrm>
            <a:off x="8129016" y="5888736"/>
            <a:ext cx="3739896" cy="508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3" name="TextBox 17462"/>
          <p:cNvSpPr txBox="1"/>
          <p:nvPr/>
        </p:nvSpPr>
        <p:spPr>
          <a:xfrm>
            <a:off x="8129016" y="5966460"/>
            <a:ext cx="373989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1" i="0">
                <a:solidFill>
                  <a:srgbClr val="1B7A3C"/>
                </a:solidFill>
                <a:latin typeface="Arial"/>
              </a:rPr>
              <a:t>SEE IT RUN  </a:t>
            </a:r>
            <a:r>
              <a:rPr sz="740" b="1" i="0">
                <a:solidFill>
                  <a:srgbClr val="1F497D"/>
                </a:solidFill>
                <a:latin typeface="Arial"/>
                <a:hlinkClick r:id="rId4"/>
              </a:rPr>
              <a:t>walkthrough</a:t>
            </a:r>
            <a:r>
              <a:rPr sz="740" b="0" i="0">
                <a:solidFill>
                  <a:srgbClr val="8A93A2"/>
                </a:solidFill>
                <a:latin typeface="Arial"/>
              </a:rPr>
              <a:t>  ·  </a:t>
            </a:r>
            <a:r>
              <a:rPr sz="740" b="0" i="0">
                <a:solidFill>
                  <a:srgbClr val="1F497D"/>
                </a:solidFill>
                <a:latin typeface="Arial"/>
                <a:hlinkClick r:id="rId5"/>
              </a:rPr>
              <a:t>vimaan-console.vercel.app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F497D"/>
      </a:hlink>
      <a:folHlink>
        <a:srgbClr val="1F497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