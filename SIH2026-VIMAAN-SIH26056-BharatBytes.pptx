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effectLst/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effectLst/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115568"/>
            <a:ext cx="5577840" cy="21031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Problem Statement ID – </a:t>
            </a:r>
            <a:r>
              <a:rPr sz="1350" b="1" i="0">
                <a:solidFill>
                  <a:srgbClr val="1F497D"/>
                </a:solidFill>
                <a:latin typeface="Arial"/>
              </a:rPr>
              <a:t>SIH26056</a:t>
            </a:r>
            <a:endParaRPr lang="en-US" dirty="0"/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Problem Statement Title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Theme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Travel &amp; Tourism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PS Category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Team Name – </a:t>
            </a:r>
            <a:r>
              <a:rPr sz="1350" b="1" i="0">
                <a:solidFill>
                  <a:srgbClr val="B86B00"/>
                </a:solidFill>
                <a:latin typeface="Arial"/>
              </a:rPr>
              <a:t>Bharat Bytes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38" name="Rounded Rectangle 37"/>
          <p:cNvSpPr/>
          <p:nvPr/>
        </p:nvSpPr>
        <p:spPr>
          <a:xfrm>
            <a:off x="329184" y="3310128"/>
            <a:ext cx="5577840" cy="987552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VIMAAN</a:t>
            </a:r>
            <a:r>
              <a:rPr sz="1050" b="0" i="0">
                <a:solidFill>
                  <a:srgbClr val="C8D6E8"/>
                </a:solidFill>
                <a:latin typeface="Arial"/>
              </a:rPr>
              <a:t>   Validated Index of Market Airfares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8D6E8"/>
                </a:solidFill>
                <a:latin typeface="Arial"/>
              </a:rPr>
              <a:t>for Augmenting National-statistics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F3C67A"/>
                </a:solidFill>
                <a:latin typeface="Arial"/>
              </a:rPr>
              <a:t>Skyscanner tells you what a ticket costs. VIMAAN tells the RBI whether to raise rates.</a:t>
            </a:r>
          </a:p>
        </p:txBody>
      </p:sp>
      <p:pic>
        <p:nvPicPr>
          <p:cNvPr id="39" name="Picture 38" descr="n_hero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4370832"/>
            <a:ext cx="3968496" cy="134715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329184" y="5754563"/>
            <a:ext cx="39684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Modelled on the VIMAAN sampling design. Base 2024 = 100, as in CPI 2024.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4498848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517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4718304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ROUTES, 3× A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974336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78 → 517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6" y="5193792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VS DGCA 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5696" y="5449824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SDMX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5669280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FEED INTO CPI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5362" name="Rounded Rectangle 15361"/>
          <p:cNvSpPr/>
          <p:nvPr/>
        </p:nvSpPr>
        <p:spPr>
          <a:xfrm>
            <a:off x="320040" y="1097280"/>
            <a:ext cx="11548872" cy="384048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F3C67A"/>
                </a:solidFill>
                <a:latin typeface="Arial"/>
              </a:rPr>
              <a:t>VIMAAN   </a:t>
            </a:r>
            <a:r>
              <a:rPr sz="950" b="1" i="0">
                <a:solidFill>
                  <a:srgbClr val="FFFFFF"/>
                </a:solidFill>
                <a:latin typeface="Arial"/>
              </a:rPr>
              <a:t>Validated Index of Market Airfares for Augmenting National-statistics.   </a:t>
            </a:r>
            <a:r>
              <a:rPr sz="950" b="0" i="0">
                <a:solidFill>
                  <a:srgbClr val="C8D6E8"/>
                </a:solidFill>
                <a:latin typeface="Arial"/>
              </a:rPr>
              <a:t>An automated replacement for the manual airfare price collection that currently supplies the CPI transport group.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0040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2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DETAILED EXPLANATION OF THE PROPOSED SOLUTION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6062471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062471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3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HOW IT ADDRESSES THE PROBLEM</a:t>
            </a:r>
          </a:p>
        </p:txBody>
      </p:sp>
      <p:pic>
        <p:nvPicPr>
          <p:cNvPr id="15367" name="Picture 15366" descr="n_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92224"/>
            <a:ext cx="5577840" cy="3219633"/>
          </a:xfrm>
          <a:prstGeom prst="rect">
            <a:avLst/>
          </a:prstGeom>
          <a:effectLst/>
        </p:spPr>
      </p:pic>
      <p:pic>
        <p:nvPicPr>
          <p:cNvPr id="15368" name="Picture 15367" descr="n_sur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792224"/>
            <a:ext cx="5577840" cy="3511205"/>
          </a:xfrm>
          <a:prstGeom prst="rect">
            <a:avLst/>
          </a:prstGeom>
          <a:effectLst/>
        </p:spPr>
      </p:pic>
      <p:sp>
        <p:nvSpPr>
          <p:cNvPr id="15369" name="TextBox 15368"/>
          <p:cNvSpPr txBox="1"/>
          <p:nvPr/>
        </p:nvSpPr>
        <p:spPr>
          <a:xfrm>
            <a:off x="320040" y="5030145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Route count from DGCA Monthly Domestic Traffic Statistics. Present coverage per PIB PRID 1810467.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062471" y="532171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Fare grid modelled on the VIMAAN sampling design, Delhi–Mumbai, September 2026 departures.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20040" y="5358384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20040" y="5559552"/>
            <a:ext cx="11548872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20040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01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Full price surface sampled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20040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Eight advance-purchase windows across every departure date in a 60-day horizon, each fare attributed to its month of departure.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161538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252978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02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Multilateral index estimators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3252978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elementary aggregates, then GEKS-Jevons on a 25-month rolling window, which removes chain drift.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6094476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6185916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03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Statutory collection basis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185916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Rule 135(2) tariff pages and licensed APIs supply two of three lanes. robots.txt observed; no personal data.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9027414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9118854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04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Reproducible output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118854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Hashed raw snapshots, a methodology endpoint for each value, and SDMX-JSON for direct ingestion by MoSPI.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6784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3502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0233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COLLECT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233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statutory tariff pages, licensed APIs, public portals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167700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175930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2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CLEAN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75930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IATA codes, one currency, all-in fares, outliers out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03397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11627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3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ADJUST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11627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hedonic model strips stops, duration, cabin, baggage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39094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47324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4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INDEX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7324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→ GEKS–Jevons → DGCA passenger weights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74791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83021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5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PUBLISH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83021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REST + SDMX-JSON, dashboard, surge alerts to DGCA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20040" y="2011680"/>
            <a:ext cx="6784848" cy="9525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206654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8A93A2"/>
                </a:solidFill>
                <a:latin typeface="Arial"/>
              </a:rPr>
              <a:t>The pipeline runs without manual intervention. Sampling parameters are given in the specification, right.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040" y="234086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2391156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4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EFFECT OF THE INDEX FORMULA ON THE PUBLISHED FIGURE</a:t>
            </a:r>
          </a:p>
        </p:txBody>
      </p:sp>
      <p:pic>
        <p:nvPicPr>
          <p:cNvPr id="17430" name="Picture 17429" descr="n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96896"/>
            <a:ext cx="5852160" cy="3156401"/>
          </a:xfrm>
          <a:prstGeom prst="rect">
            <a:avLst/>
          </a:prstGeom>
          <a:effectLst/>
        </p:spPr>
      </p:pic>
      <p:sp>
        <p:nvSpPr>
          <p:cNvPr id="17431" name="TextBox 17430"/>
          <p:cNvSpPr txBox="1"/>
          <p:nvPr/>
        </p:nvSpPr>
        <p:spPr>
          <a:xfrm>
            <a:off x="320040" y="5771585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Simulation with constant true prices. Estimators per ONS Methodology Working Paper 12 and the ILO/IMF CPI Manual 2020.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0040" y="597275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1A1F2B"/>
                </a:solidFill>
                <a:latin typeface="Arial"/>
              </a:rPr>
              <a:t>P_J(0,t) = Πⱼ ( pⱼᵗ / pⱼ⁰ )^(1/n)          Index(t) = Σᵢ wᵢ Iᵢ(t) / Σᵢ wᵢ × 100,  wᵢ = DGCA base-period passengers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251192" y="1133856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251192" y="133502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COLLECT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Python 3.11 · Playwright · httpx · Redis + RQ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251192" y="157734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STORE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PostgreSQL 16 + TimescaleDB · Parquet / DuckDB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251192" y="1819656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PROCESS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Polars · NumPy / SciPy · Great Expectations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251192" y="2061972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STATISTICS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statsmodels · X-13ARIMA-SEATS · index library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251192" y="2304288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SERVE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FastAPI · Pydantic v2 · SDMX-JSON · Swagger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251192" y="254660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INTERFACE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React 18 + Vite · visx · MapLibre + deck.gl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251192" y="278892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OPERATE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Docker Compose · Prometheus + Grafana · CI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251192" y="3072384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INDEX SPECIFICATION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7251192" y="3273552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251192" y="3319272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Collection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769096" y="3319272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3 times daily, 02:00 / 11:00 / 19:00 IST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7251192" y="351221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251192" y="354421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Lead buckets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769096" y="354421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L1, L3, L7, L14, L21, L30, L45, L60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7251192" y="373715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7251192" y="376915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Horizon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769096" y="376915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60 days forward, every departure date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7251192" y="3962095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251192" y="3994099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769096" y="3994099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month of departure (acquisition basis in parallel)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7251192" y="418703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7251192" y="421904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Elementary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769096" y="421904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Jevons geometric mean, per route and bucket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7251192" y="441198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7251192" y="444398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Multilateral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769096" y="444398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GEKS-Jevons, cross-checked with Time-Product-Dummy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7251192" y="463692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51192" y="466892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Window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769096" y="466892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25 months, rolling, extended by mean splicing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7251192" y="4861864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7251192" y="4893868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Weights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769096" y="4893868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DGCA base-period route passengers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7251192" y="508680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7251192" y="511881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Seasonal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769096" y="511881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X-13ARIMA-SEATS, Indian moving-holiday regressors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7251192" y="5311749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7251192" y="5343753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Output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769096" y="5343753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REST, SDMX-JSON, monthly bulletin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7251192" y="553669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7251192" y="5660136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7251192" y="5733288"/>
            <a:ext cx="46177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B86B00"/>
                </a:solidFill>
                <a:latin typeface="Arial"/>
              </a:rPr>
              <a:t>OUT OF SCOPE BY DESIGN   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7251192" y="5916168"/>
            <a:ext cx="46177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No CAPTCHA solving, no login or paywall circumvention, no fingerprint spoofing, and no personal data at any stage. Two of the three intake lanes do not scrape.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1673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362456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COLLECTION BASIS IS STATUTORY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540764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135(2), Aircraft Rules 1937 obliges every airline to publish its tariff. Two of our three intake lanes therefore need no scraping at all.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2084831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2130551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COMPONENTS ARE STANDARD AND UNLICENSED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2308860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Python, Playwright, PostgreSQL, statsmodels, FastAPI, React, Docker. Nothing exotic, nothing licensed, nothing to procure.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0040" y="288950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93979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5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IMPLIED DATA VOLUME</a:t>
            </a:r>
          </a:p>
        </p:txBody>
      </p:sp>
      <p:pic>
        <p:nvPicPr>
          <p:cNvPr id="17419" name="Picture 17418" descr="n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45536"/>
            <a:ext cx="5577840" cy="2797635"/>
          </a:xfrm>
          <a:prstGeom prst="rect">
            <a:avLst/>
          </a:prstGeom>
          <a:effectLst/>
        </p:spPr>
      </p:pic>
      <p:sp>
        <p:nvSpPr>
          <p:cNvPr id="17420" name="TextBox 17419"/>
          <p:cNvSpPr txBox="1"/>
          <p:nvPr/>
        </p:nvSpPr>
        <p:spPr>
          <a:xfrm>
            <a:off x="320040" y="5961459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Derived from the sampling design set out in the specification on slide 3.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062471" y="1133856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062471" y="118414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6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CHALLENGES AND RISKS</a:t>
            </a:r>
          </a:p>
        </p:txBody>
      </p:sp>
      <p:pic>
        <p:nvPicPr>
          <p:cNvPr id="17423" name="Picture 17422" descr="n_ri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389888"/>
            <a:ext cx="5577840" cy="2844602"/>
          </a:xfrm>
          <a:prstGeom prst="rect">
            <a:avLst/>
          </a:prstGeom>
          <a:effectLst/>
        </p:spPr>
      </p:pic>
      <p:sp>
        <p:nvSpPr>
          <p:cNvPr id="17424" name="TextBox 17423"/>
          <p:cNvSpPr txBox="1"/>
          <p:nvPr/>
        </p:nvSpPr>
        <p:spPr>
          <a:xfrm>
            <a:off x="6062471" y="425277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Team assessment. Each entry is answered in the strategies below.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062471" y="449884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062471" y="454914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062471" y="477316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1  Portal blocks us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7488935" y="4833518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690103" y="477316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three independent lanes; A and B are statutory and contractual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062471" y="498530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2  Legal challenge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7488935" y="5045659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690103" y="498530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 mandate + Collection of Statistics Act 2008; zero PII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5197449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3  No 2024 base fares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7488935" y="525780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690103" y="5197449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backcast from DGCA yields; published provisional with a band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062471" y="5409590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4  Chain drift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7488935" y="546994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690103" y="5409590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GEKS–Jevons and TPD on a 25-month rolling window, mean spliced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062471" y="5621731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5  Listed ≠ paid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7488935" y="5682081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690103" y="5621731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yield calibration from DGCA route revenue, published with uncertainty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062471" y="583387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6  Parser breaks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7488935" y="5894222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7690103" y="583387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config-driven selectors, schema-drift detector, per-lane SLO alarms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062471" y="604601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7  Demo network dies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7488935" y="6106363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690103" y="604601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seeded 21-day dataset, fully offline Docker Compose, backup video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Rectangle 17409"/>
          <p:cNvSpPr/>
          <p:nvPr/>
        </p:nvSpPr>
        <p:spPr>
          <a:xfrm>
            <a:off x="320040" y="111556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16586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7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IMPACT ON THE TARGET AUDIENCE</a:t>
            </a:r>
          </a:p>
        </p:txBody>
      </p:sp>
      <p:pic>
        <p:nvPicPr>
          <p:cNvPr id="17412" name="Picture 17411" descr="n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5120640" cy="2353315"/>
          </a:xfrm>
          <a:prstGeom prst="rect">
            <a:avLst/>
          </a:prstGeom>
          <a:effectLst/>
        </p:spPr>
      </p:pic>
      <p:sp>
        <p:nvSpPr>
          <p:cNvPr id="17413" name="TextBox 17412"/>
          <p:cNvSpPr txBox="1"/>
          <p:nvPr/>
        </p:nvSpPr>
        <p:spPr>
          <a:xfrm>
            <a:off x="320040" y="374320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Present method per PIB PRID 1810467. VIMAAN figures are design parameters.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398678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403707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8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POSITION WITHIN THE CPI 2024 BASKET</a:t>
            </a:r>
          </a:p>
        </p:txBody>
      </p:sp>
      <p:pic>
        <p:nvPicPr>
          <p:cNvPr id="17416" name="Picture 17415" descr="n_c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42816"/>
            <a:ext cx="4937760" cy="1835533"/>
          </a:xfrm>
          <a:prstGeom prst="rect">
            <a:avLst/>
          </a:prstGeom>
          <a:effectLst/>
        </p:spPr>
      </p:pic>
      <p:sp>
        <p:nvSpPr>
          <p:cNvPr id="17417" name="TextBox 17416"/>
          <p:cNvSpPr txBox="1"/>
          <p:nvPr/>
        </p:nvSpPr>
        <p:spPr>
          <a:xfrm>
            <a:off x="320040" y="609663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MoSPI, Consumer Price Index base 2024 = 100. First release, PIB PRID 2227012.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062471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TRANSMISSION OF THE INDEX INTO POLICY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62471" y="133502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14476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Millions of fares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517 routes, 3× daily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38835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3922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VIMAAN index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53922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quality-adjusted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878281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933688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CPI 2024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933688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transport, 9.43%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1017727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10245851" y="1335024"/>
            <a:ext cx="1394460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1032814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B86B00"/>
                </a:solidFill>
                <a:latin typeface="Arial"/>
              </a:rPr>
              <a:t>Repo rate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32814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EMIs for 140 crore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062471" y="2029967"/>
            <a:ext cx="557784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206654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CPI group weight from MoSPI. Repo transmission is the standard monetary policy channel, not a claim specific to this project.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6062471" y="230428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062471" y="235458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6062471" y="259689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062471" y="2642615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ECONOMIC — MOSPI AND THE RBI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062471" y="2820924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An unbiased, quality-adjusted airfare component feeds headline CPI, which sets the repo rate. Better input, better monetary policy.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062471" y="3383279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062471" y="3428999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ADMINISTRATIVE — DGCA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062471" y="3607308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Tariff monitoring goes from 78 hand-checked routes a month to 517 routes three times a day, with automatic fare-surge alerts.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6062471" y="4169663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062471" y="4215383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SOCIAL — CITIZENS AND TRAVELLERS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062471" y="4393692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Public route and lead-time indices expose the true advance-purchase penalty and festival-season surges. No such statistic exists for India today.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062471" y="4956048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062471" y="500176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ENVIRONMENTAL — MOCA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062471" y="5180076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Field price collection is replaced by an automated feed, removing enumerator travel. The ATF pass-through model shows how much of a fare rise is fuel.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6062471" y="5779008"/>
            <a:ext cx="5577840" cy="1524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6062471" y="582472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B86B00"/>
                </a:solidFill>
                <a:latin typeface="Arial"/>
              </a:rPr>
              <a:t>STATISTICAL — MOSPI, RBI AND THE IMF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062471" y="6003036"/>
            <a:ext cx="5577840" cy="2697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SDMX-JSON is ingested without manual handling. Hashed provenance makes every published value defensible under statistical audit and under RTI.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15568"/>
            <a:ext cx="1154887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DETAILS / LINKS OF THE REFERENCE AND RESEARCH WORK  ·  EACH SOURCE, AND WHAT IT SETTLES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  INDIAN STATUTORY BASIS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the data is public and that MoSPI may collect it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24528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B86B00"/>
          </a:solidFill>
          <a:ln w="9525">
            <a:solidFill>
              <a:srgbClr val="B8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  INTERNATIONAL METHOD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our estimators are the ones NSOs already use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29016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B7A3C"/>
          </a:solidFill>
          <a:ln w="9525">
            <a:solidFill>
              <a:srgbClr val="1B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   OUR OWN VALIDATION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129016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how anyone can check the number we publish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0040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FAQs on the CPI 2024 Series, Annexure V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airfare prices are collected through online platforms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— first CPI release on base 2024 = 100, 12 Feb 2026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358 items · COICOP 2018 · Transport weight 9.43%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2227012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Aircraft Rules, 1937 — Rule 135(2)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every airline shall publish its established tariff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civilaviation.gov.in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20040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Collection of Statistics Act, 2008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statutory mandate for official price collection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indiacode.nic.in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5.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/ MoCA — DGCA Tariff Monitoring Unit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78 routes, monthly, read by hand from airline sites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1810467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6.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DGCA — Monthly Domestic Traffic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route-wise passengers — our index weights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dgca.gov.in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7.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Expert Group Report on updation of the CPI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weight derivation and item-basket methodology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224528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8.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aggregate index of air fares (FOI-2023-1164)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fixed advance-purchase windows; month-of-departure basis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24528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9.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Methodology Working Paper 12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index-number methods on web-scraped price data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24528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10.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multilateral methods in consumer price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GEKS–Jevons, TPD, rolling windows, splicing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224528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ILO / IMF / OECD / Eurostat — CPI Manual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why Jevons, not Carli or Dutot, for elementary aggregates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imf.org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224528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Canada — Air Transportation Index,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dynamic airline pricing inside an official index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statcan.gc.ca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24528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Netherlands / Eurostat — web scraping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25-month window guidance and chain-drift evidence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unece.org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224528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IOCL — Aviation Turbine Fuel price circulars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input to the fuel pass-through model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iocl.com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8129016" y="20299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129016" y="20756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DATASETS ASSEMBLED BEFORE HOUR ZERO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29016" y="2253996"/>
            <a:ext cx="3739896" cy="5623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routes_top500.csv (DGCA), dgca_pax_weights.csv, base_2024_fares.csv (backcast), airports.geojson, atf_prices.csv (IOCL), festival_calendar.csv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8129016" y="29443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129016" y="29900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HOW THE INDEX WILL BE VALIDATED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129016" y="3168396"/>
            <a:ext cx="3739896" cy="7452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Benchmarked against MoSPI's own manually collected airfare series over overlapping months. Cross-lane divergence tests with a flag threshold. Leave-one-route-out sensitivity on the DGCA weights. A published revision policy.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20040" y="5522976"/>
            <a:ext cx="7644384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20040" y="5568696"/>
            <a:ext cx="76443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STANDING OF THE METHOD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20040" y="5747004"/>
            <a:ext cx="7644384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The collection basis is statutory and the estimators are those already in use by the UK Office for National Statistics, Statistics Canada and Statistics Netherlands on web-collected prices. The contribution here is their application to Indian route data, with the supporting evidence published alongside every figure.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8129016" y="4078224"/>
            <a:ext cx="3739896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129016" y="4128515"/>
            <a:ext cx="37398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DISTINCTION FROM A FARE-SEARCH PRODUCT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29016" y="435254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Unit of observation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372600" y="435254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price surface, not a single price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129016" y="454456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129016" y="457657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Elementary aggregate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372600" y="457657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Jevons geometric mean, not an arithmetic average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8129016" y="476859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129016" y="4800600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Multilateral stage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372600" y="4800600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GEKS-Jevons on a rolling window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8129016" y="4992624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129016" y="5024628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372600" y="5024628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month of departure, DGCA passenger weights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8129016" y="5216652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8129016" y="5248656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Delivery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372600" y="5248656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an SDMX statistical feed, not only a dashboard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129016" y="5440680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129016" y="547268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Auditability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372600" y="547268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reproducibility hash on every published value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129016" y="566470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129016" y="569671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Collection basis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9372600" y="569671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two of three lanes statutory, not scraped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8129016" y="588873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